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57" r:id="rId2"/>
    <p:sldId id="260" r:id="rId3"/>
    <p:sldId id="274" r:id="rId4"/>
    <p:sldId id="273" r:id="rId5"/>
    <p:sldId id="276" r:id="rId6"/>
    <p:sldId id="272" r:id="rId7"/>
    <p:sldId id="275" r:id="rId8"/>
    <p:sldId id="283" r:id="rId9"/>
    <p:sldId id="271" r:id="rId10"/>
    <p:sldId id="277" r:id="rId11"/>
    <p:sldId id="285" r:id="rId12"/>
    <p:sldId id="284" r:id="rId13"/>
    <p:sldId id="289" r:id="rId14"/>
    <p:sldId id="278" r:id="rId15"/>
    <p:sldId id="288" r:id="rId16"/>
    <p:sldId id="282" r:id="rId17"/>
    <p:sldId id="286" r:id="rId18"/>
    <p:sldId id="287" r:id="rId19"/>
    <p:sldId id="262" r:id="rId20"/>
  </p:sldIdLst>
  <p:sldSz cx="9144000" cy="5143500" type="screen16x9"/>
  <p:notesSz cx="6858000" cy="9144000"/>
  <p:defaultTextStyle>
    <a:defPPr>
      <a:defRPr lang="es-E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90" d="100"/>
          <a:sy n="90" d="100"/>
        </p:scale>
        <p:origin x="816" y="72"/>
      </p:cViewPr>
      <p:guideLst>
        <p:guide orient="horz" pos="162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BA54E9E-794B-4315-BB24-7A891A40C547}" type="datetimeFigureOut">
              <a:rPr lang="es-ES" smtClean="0"/>
              <a:t>31/07/2023</a:t>
            </a:fld>
            <a:endParaRPr lang="es-ES"/>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ES"/>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ES"/>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79E9F25-E47B-43D6-98FA-45FAC21BD68F}" type="slidenum">
              <a:rPr lang="es-ES" smtClean="0"/>
              <a:t>‹Nº›</a:t>
            </a:fld>
            <a:endParaRPr lang="es-ES"/>
          </a:p>
        </p:txBody>
      </p:sp>
    </p:spTree>
    <p:extLst>
      <p:ext uri="{BB962C8B-B14F-4D97-AF65-F5344CB8AC3E}">
        <p14:creationId xmlns:p14="http://schemas.microsoft.com/office/powerpoint/2010/main" val="18997744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fld id="{C79E9F25-E47B-43D6-98FA-45FAC21BD68F}" type="slidenum">
              <a:rPr lang="es-ES" smtClean="0"/>
              <a:t>2</a:t>
            </a:fld>
            <a:endParaRPr lang="es-ES"/>
          </a:p>
        </p:txBody>
      </p:sp>
    </p:spTree>
    <p:extLst>
      <p:ext uri="{BB962C8B-B14F-4D97-AF65-F5344CB8AC3E}">
        <p14:creationId xmlns:p14="http://schemas.microsoft.com/office/powerpoint/2010/main" val="183496347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fld id="{C79E9F25-E47B-43D6-98FA-45FAC21BD68F}" type="slidenum">
              <a:rPr lang="es-ES" smtClean="0"/>
              <a:t>3</a:t>
            </a:fld>
            <a:endParaRPr lang="es-ES"/>
          </a:p>
        </p:txBody>
      </p:sp>
    </p:spTree>
    <p:extLst>
      <p:ext uri="{BB962C8B-B14F-4D97-AF65-F5344CB8AC3E}">
        <p14:creationId xmlns:p14="http://schemas.microsoft.com/office/powerpoint/2010/main" val="268951475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fld id="{C79E9F25-E47B-43D6-98FA-45FAC21BD68F}" type="slidenum">
              <a:rPr lang="es-ES" smtClean="0"/>
              <a:t>4</a:t>
            </a:fld>
            <a:endParaRPr lang="es-ES"/>
          </a:p>
        </p:txBody>
      </p:sp>
    </p:spTree>
    <p:extLst>
      <p:ext uri="{BB962C8B-B14F-4D97-AF65-F5344CB8AC3E}">
        <p14:creationId xmlns:p14="http://schemas.microsoft.com/office/powerpoint/2010/main" val="385754063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fld id="{C79E9F25-E47B-43D6-98FA-45FAC21BD68F}" type="slidenum">
              <a:rPr lang="es-ES" smtClean="0"/>
              <a:t>5</a:t>
            </a:fld>
            <a:endParaRPr lang="es-ES"/>
          </a:p>
        </p:txBody>
      </p:sp>
    </p:spTree>
    <p:extLst>
      <p:ext uri="{BB962C8B-B14F-4D97-AF65-F5344CB8AC3E}">
        <p14:creationId xmlns:p14="http://schemas.microsoft.com/office/powerpoint/2010/main" val="282527221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fld id="{C79E9F25-E47B-43D6-98FA-45FAC21BD68F}" type="slidenum">
              <a:rPr lang="es-ES" smtClean="0"/>
              <a:t>6</a:t>
            </a:fld>
            <a:endParaRPr lang="es-ES"/>
          </a:p>
        </p:txBody>
      </p:sp>
    </p:spTree>
    <p:extLst>
      <p:ext uri="{BB962C8B-B14F-4D97-AF65-F5344CB8AC3E}">
        <p14:creationId xmlns:p14="http://schemas.microsoft.com/office/powerpoint/2010/main" val="396846634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fld id="{C79E9F25-E47B-43D6-98FA-45FAC21BD68F}" type="slidenum">
              <a:rPr lang="es-ES" smtClean="0"/>
              <a:t>7</a:t>
            </a:fld>
            <a:endParaRPr lang="es-ES"/>
          </a:p>
        </p:txBody>
      </p:sp>
    </p:spTree>
    <p:extLst>
      <p:ext uri="{BB962C8B-B14F-4D97-AF65-F5344CB8AC3E}">
        <p14:creationId xmlns:p14="http://schemas.microsoft.com/office/powerpoint/2010/main" val="10547153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fld id="{C79E9F25-E47B-43D6-98FA-45FAC21BD68F}" type="slidenum">
              <a:rPr lang="es-ES" smtClean="0"/>
              <a:t>8</a:t>
            </a:fld>
            <a:endParaRPr lang="es-ES"/>
          </a:p>
        </p:txBody>
      </p:sp>
    </p:spTree>
    <p:extLst>
      <p:ext uri="{BB962C8B-B14F-4D97-AF65-F5344CB8AC3E}">
        <p14:creationId xmlns:p14="http://schemas.microsoft.com/office/powerpoint/2010/main" val="319001386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fld id="{C79E9F25-E47B-43D6-98FA-45FAC21BD68F}" type="slidenum">
              <a:rPr lang="es-ES" smtClean="0"/>
              <a:t>9</a:t>
            </a:fld>
            <a:endParaRPr lang="es-ES"/>
          </a:p>
        </p:txBody>
      </p:sp>
    </p:spTree>
    <p:extLst>
      <p:ext uri="{BB962C8B-B14F-4D97-AF65-F5344CB8AC3E}">
        <p14:creationId xmlns:p14="http://schemas.microsoft.com/office/powerpoint/2010/main" val="35357907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fld id="{C79E9F25-E47B-43D6-98FA-45FAC21BD68F}" type="slidenum">
              <a:rPr lang="es-ES" smtClean="0"/>
              <a:t>10</a:t>
            </a:fld>
            <a:endParaRPr lang="es-ES"/>
          </a:p>
        </p:txBody>
      </p:sp>
    </p:spTree>
    <p:extLst>
      <p:ext uri="{BB962C8B-B14F-4D97-AF65-F5344CB8AC3E}">
        <p14:creationId xmlns:p14="http://schemas.microsoft.com/office/powerpoint/2010/main" val="267547656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fld id="{C79E9F25-E47B-43D6-98FA-45FAC21BD68F}" type="slidenum">
              <a:rPr lang="es-ES" smtClean="0"/>
              <a:t>11</a:t>
            </a:fld>
            <a:endParaRPr lang="es-ES"/>
          </a:p>
        </p:txBody>
      </p:sp>
    </p:spTree>
    <p:extLst>
      <p:ext uri="{BB962C8B-B14F-4D97-AF65-F5344CB8AC3E}">
        <p14:creationId xmlns:p14="http://schemas.microsoft.com/office/powerpoint/2010/main" val="307076105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fld id="{C79E9F25-E47B-43D6-98FA-45FAC21BD68F}" type="slidenum">
              <a:rPr lang="es-ES" smtClean="0"/>
              <a:t>12</a:t>
            </a:fld>
            <a:endParaRPr lang="es-ES"/>
          </a:p>
        </p:txBody>
      </p:sp>
    </p:spTree>
    <p:extLst>
      <p:ext uri="{BB962C8B-B14F-4D97-AF65-F5344CB8AC3E}">
        <p14:creationId xmlns:p14="http://schemas.microsoft.com/office/powerpoint/2010/main" val="166024956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fld id="{C79E9F25-E47B-43D6-98FA-45FAC21BD68F}" type="slidenum">
              <a:rPr lang="es-ES" smtClean="0"/>
              <a:t>13</a:t>
            </a:fld>
            <a:endParaRPr lang="es-ES"/>
          </a:p>
        </p:txBody>
      </p:sp>
    </p:spTree>
    <p:extLst>
      <p:ext uri="{BB962C8B-B14F-4D97-AF65-F5344CB8AC3E}">
        <p14:creationId xmlns:p14="http://schemas.microsoft.com/office/powerpoint/2010/main" val="173400055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fld id="{C79E9F25-E47B-43D6-98FA-45FAC21BD68F}" type="slidenum">
              <a:rPr lang="es-ES" smtClean="0"/>
              <a:t>14</a:t>
            </a:fld>
            <a:endParaRPr lang="es-ES"/>
          </a:p>
        </p:txBody>
      </p:sp>
    </p:spTree>
    <p:extLst>
      <p:ext uri="{BB962C8B-B14F-4D97-AF65-F5344CB8AC3E}">
        <p14:creationId xmlns:p14="http://schemas.microsoft.com/office/powerpoint/2010/main" val="142083358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fld id="{C79E9F25-E47B-43D6-98FA-45FAC21BD68F}" type="slidenum">
              <a:rPr lang="es-ES" smtClean="0"/>
              <a:t>15</a:t>
            </a:fld>
            <a:endParaRPr lang="es-ES"/>
          </a:p>
        </p:txBody>
      </p:sp>
    </p:spTree>
    <p:extLst>
      <p:ext uri="{BB962C8B-B14F-4D97-AF65-F5344CB8AC3E}">
        <p14:creationId xmlns:p14="http://schemas.microsoft.com/office/powerpoint/2010/main" val="183611683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fld id="{C79E9F25-E47B-43D6-98FA-45FAC21BD68F}" type="slidenum">
              <a:rPr lang="es-ES" smtClean="0"/>
              <a:t>16</a:t>
            </a:fld>
            <a:endParaRPr lang="es-ES"/>
          </a:p>
        </p:txBody>
      </p:sp>
    </p:spTree>
    <p:extLst>
      <p:ext uri="{BB962C8B-B14F-4D97-AF65-F5344CB8AC3E}">
        <p14:creationId xmlns:p14="http://schemas.microsoft.com/office/powerpoint/2010/main" val="110920581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fld id="{C79E9F25-E47B-43D6-98FA-45FAC21BD68F}" type="slidenum">
              <a:rPr lang="es-ES" smtClean="0"/>
              <a:t>17</a:t>
            </a:fld>
            <a:endParaRPr lang="es-ES"/>
          </a:p>
        </p:txBody>
      </p:sp>
    </p:spTree>
    <p:extLst>
      <p:ext uri="{BB962C8B-B14F-4D97-AF65-F5344CB8AC3E}">
        <p14:creationId xmlns:p14="http://schemas.microsoft.com/office/powerpoint/2010/main" val="407875610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fld id="{C79E9F25-E47B-43D6-98FA-45FAC21BD68F}" type="slidenum">
              <a:rPr lang="es-ES" smtClean="0"/>
              <a:t>18</a:t>
            </a:fld>
            <a:endParaRPr lang="es-ES"/>
          </a:p>
        </p:txBody>
      </p:sp>
    </p:spTree>
    <p:extLst>
      <p:ext uri="{BB962C8B-B14F-4D97-AF65-F5344CB8AC3E}">
        <p14:creationId xmlns:p14="http://schemas.microsoft.com/office/powerpoint/2010/main" val="100004326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Diapositiva de título">
    <p:spTree>
      <p:nvGrpSpPr>
        <p:cNvPr id="1" name=""/>
        <p:cNvGrpSpPr/>
        <p:nvPr/>
      </p:nvGrpSpPr>
      <p:grpSpPr>
        <a:xfrm>
          <a:off x="0" y="0"/>
          <a:ext cx="0" cy="0"/>
          <a:chOff x="0" y="0"/>
          <a:chExt cx="0" cy="0"/>
        </a:xfrm>
      </p:grpSpPr>
      <p:pic>
        <p:nvPicPr>
          <p:cNvPr id="2" name="Imagen 1" descr="portada-gobierno.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Tree>
    <p:extLst>
      <p:ext uri="{BB962C8B-B14F-4D97-AF65-F5344CB8AC3E}">
        <p14:creationId xmlns:p14="http://schemas.microsoft.com/office/powerpoint/2010/main" val="2990882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ítulo y objetos">
    <p:spTree>
      <p:nvGrpSpPr>
        <p:cNvPr id="1" name=""/>
        <p:cNvGrpSpPr/>
        <p:nvPr/>
      </p:nvGrpSpPr>
      <p:grpSpPr>
        <a:xfrm>
          <a:off x="0" y="0"/>
          <a:ext cx="0" cy="0"/>
          <a:chOff x="0" y="0"/>
          <a:chExt cx="0" cy="0"/>
        </a:xfrm>
      </p:grpSpPr>
      <p:pic>
        <p:nvPicPr>
          <p:cNvPr id="2" name="Imagen 1" descr="portada.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Tree>
    <p:extLst>
      <p:ext uri="{BB962C8B-B14F-4D97-AF65-F5344CB8AC3E}">
        <p14:creationId xmlns:p14="http://schemas.microsoft.com/office/powerpoint/2010/main" val="24242798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Encabezado de sección">
    <p:spTree>
      <p:nvGrpSpPr>
        <p:cNvPr id="1" name=""/>
        <p:cNvGrpSpPr/>
        <p:nvPr/>
      </p:nvGrpSpPr>
      <p:grpSpPr>
        <a:xfrm>
          <a:off x="0" y="0"/>
          <a:ext cx="0" cy="0"/>
          <a:chOff x="0" y="0"/>
          <a:chExt cx="0" cy="0"/>
        </a:xfrm>
      </p:grpSpPr>
      <p:pic>
        <p:nvPicPr>
          <p:cNvPr id="7" name="Imagen 6" descr="interna.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Tree>
    <p:extLst>
      <p:ext uri="{BB962C8B-B14F-4D97-AF65-F5344CB8AC3E}">
        <p14:creationId xmlns:p14="http://schemas.microsoft.com/office/powerpoint/2010/main" val="10708572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Dos objetos">
    <p:spTree>
      <p:nvGrpSpPr>
        <p:cNvPr id="1" name=""/>
        <p:cNvGrpSpPr/>
        <p:nvPr/>
      </p:nvGrpSpPr>
      <p:grpSpPr>
        <a:xfrm>
          <a:off x="0" y="0"/>
          <a:ext cx="0" cy="0"/>
          <a:chOff x="0" y="0"/>
          <a:chExt cx="0" cy="0"/>
        </a:xfrm>
      </p:grpSpPr>
      <p:pic>
        <p:nvPicPr>
          <p:cNvPr id="8" name="Imagen 7" descr="interna+textura.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Tree>
    <p:extLst>
      <p:ext uri="{BB962C8B-B14F-4D97-AF65-F5344CB8AC3E}">
        <p14:creationId xmlns:p14="http://schemas.microsoft.com/office/powerpoint/2010/main" val="9196815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ación">
    <p:spTree>
      <p:nvGrpSpPr>
        <p:cNvPr id="1" name=""/>
        <p:cNvGrpSpPr/>
        <p:nvPr/>
      </p:nvGrpSpPr>
      <p:grpSpPr>
        <a:xfrm>
          <a:off x="0" y="0"/>
          <a:ext cx="0" cy="0"/>
          <a:chOff x="0" y="0"/>
          <a:chExt cx="0" cy="0"/>
        </a:xfrm>
      </p:grpSpPr>
      <p:pic>
        <p:nvPicPr>
          <p:cNvPr id="10" name="Imagen 9" descr="interna-con-franja.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Tree>
    <p:extLst>
      <p:ext uri="{BB962C8B-B14F-4D97-AF65-F5344CB8AC3E}">
        <p14:creationId xmlns:p14="http://schemas.microsoft.com/office/powerpoint/2010/main" val="6530505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ólo el título">
    <p:spTree>
      <p:nvGrpSpPr>
        <p:cNvPr id="1" name=""/>
        <p:cNvGrpSpPr/>
        <p:nvPr/>
      </p:nvGrpSpPr>
      <p:grpSpPr>
        <a:xfrm>
          <a:off x="0" y="0"/>
          <a:ext cx="0" cy="0"/>
          <a:chOff x="0" y="0"/>
          <a:chExt cx="0" cy="0"/>
        </a:xfrm>
      </p:grpSpPr>
      <p:pic>
        <p:nvPicPr>
          <p:cNvPr id="6" name="Imagen 5" descr="interna-naranja.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Tree>
    <p:extLst>
      <p:ext uri="{BB962C8B-B14F-4D97-AF65-F5344CB8AC3E}">
        <p14:creationId xmlns:p14="http://schemas.microsoft.com/office/powerpoint/2010/main" val="25356193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pic>
        <p:nvPicPr>
          <p:cNvPr id="5" name="Imagen 4" descr="cierre.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Tree>
    <p:extLst>
      <p:ext uri="{BB962C8B-B14F-4D97-AF65-F5344CB8AC3E}">
        <p14:creationId xmlns:p14="http://schemas.microsoft.com/office/powerpoint/2010/main" val="23379170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457201" y="204787"/>
            <a:ext cx="3008313" cy="871538"/>
          </a:xfrm>
        </p:spPr>
        <p:txBody>
          <a:bodyPr anchor="b"/>
          <a:lstStyle>
            <a:lvl1pPr algn="l">
              <a:defRPr sz="2000" b="1"/>
            </a:lvl1pPr>
          </a:lstStyle>
          <a:p>
            <a:r>
              <a:rPr lang="es-ES_tradnl"/>
              <a:t>Clic para editar título</a:t>
            </a:r>
            <a:endParaRPr lang="es-ES"/>
          </a:p>
        </p:txBody>
      </p:sp>
      <p:sp>
        <p:nvSpPr>
          <p:cNvPr id="3" name="Marcador de contenido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_tradnl"/>
              <a:t>Haga clic para modificar el estilo de texto del patrón</a:t>
            </a:r>
          </a:p>
          <a:p>
            <a:pPr lvl="1"/>
            <a:r>
              <a:rPr lang="es-ES_tradnl"/>
              <a:t>Segundo nivel</a:t>
            </a:r>
          </a:p>
          <a:p>
            <a:pPr lvl="2"/>
            <a:r>
              <a:rPr lang="es-ES_tradnl"/>
              <a:t>Tercer nivel</a:t>
            </a:r>
          </a:p>
          <a:p>
            <a:pPr lvl="3"/>
            <a:r>
              <a:rPr lang="es-ES_tradnl"/>
              <a:t>Cuarto nivel</a:t>
            </a:r>
          </a:p>
          <a:p>
            <a:pPr lvl="4"/>
            <a:r>
              <a:rPr lang="es-ES_tradnl"/>
              <a:t>Quinto nivel</a:t>
            </a:r>
            <a:endParaRPr lang="es-ES"/>
          </a:p>
        </p:txBody>
      </p:sp>
      <p:sp>
        <p:nvSpPr>
          <p:cNvPr id="4" name="Marcador de texto 3"/>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_tradnl"/>
              <a:t>Haga clic para modificar el estilo de texto del patrón</a:t>
            </a:r>
          </a:p>
        </p:txBody>
      </p:sp>
      <p:sp>
        <p:nvSpPr>
          <p:cNvPr id="5" name="Marcador de fecha 4"/>
          <p:cNvSpPr>
            <a:spLocks noGrp="1"/>
          </p:cNvSpPr>
          <p:nvPr>
            <p:ph type="dt" sz="half" idx="10"/>
          </p:nvPr>
        </p:nvSpPr>
        <p:spPr/>
        <p:txBody>
          <a:bodyPr/>
          <a:lstStyle/>
          <a:p>
            <a:fld id="{B3030C24-9424-B24A-8613-79990C3AA492}" type="datetimeFigureOut">
              <a:rPr lang="es-ES" smtClean="0"/>
              <a:t>31/07/2023</a:t>
            </a:fld>
            <a:endParaRPr lang="es-ES"/>
          </a:p>
        </p:txBody>
      </p:sp>
      <p:sp>
        <p:nvSpPr>
          <p:cNvPr id="6" name="Marcador de pie de página 5"/>
          <p:cNvSpPr>
            <a:spLocks noGrp="1"/>
          </p:cNvSpPr>
          <p:nvPr>
            <p:ph type="ftr" sz="quarter" idx="11"/>
          </p:nvPr>
        </p:nvSpPr>
        <p:spPr/>
        <p:txBody>
          <a:bodyPr/>
          <a:lstStyle/>
          <a:p>
            <a:endParaRPr lang="es-ES"/>
          </a:p>
        </p:txBody>
      </p:sp>
      <p:sp>
        <p:nvSpPr>
          <p:cNvPr id="7" name="Marcador de número de diapositiva 6"/>
          <p:cNvSpPr>
            <a:spLocks noGrp="1"/>
          </p:cNvSpPr>
          <p:nvPr>
            <p:ph type="sldNum" sz="quarter" idx="12"/>
          </p:nvPr>
        </p:nvSpPr>
        <p:spPr/>
        <p:txBody>
          <a:bodyPr/>
          <a:lstStyle/>
          <a:p>
            <a:fld id="{6E4248DC-D261-1A47-8987-CC426E938172}" type="slidenum">
              <a:rPr lang="es-ES" smtClean="0"/>
              <a:t>‹Nº›</a:t>
            </a:fld>
            <a:endParaRPr lang="es-ES"/>
          </a:p>
        </p:txBody>
      </p:sp>
    </p:spTree>
    <p:extLst>
      <p:ext uri="{BB962C8B-B14F-4D97-AF65-F5344CB8AC3E}">
        <p14:creationId xmlns:p14="http://schemas.microsoft.com/office/powerpoint/2010/main" val="14547800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1792288" y="3600450"/>
            <a:ext cx="5486400" cy="425054"/>
          </a:xfrm>
        </p:spPr>
        <p:txBody>
          <a:bodyPr anchor="b"/>
          <a:lstStyle>
            <a:lvl1pPr algn="l">
              <a:defRPr sz="2000" b="1"/>
            </a:lvl1pPr>
          </a:lstStyle>
          <a:p>
            <a:r>
              <a:rPr lang="es-ES_tradnl"/>
              <a:t>Clic para editar título</a:t>
            </a:r>
            <a:endParaRPr lang="es-ES"/>
          </a:p>
        </p:txBody>
      </p:sp>
      <p:sp>
        <p:nvSpPr>
          <p:cNvPr id="3" name="Marcador de posición de imagen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S"/>
          </a:p>
        </p:txBody>
      </p:sp>
      <p:sp>
        <p:nvSpPr>
          <p:cNvPr id="4" name="Marcador de texto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_tradnl"/>
              <a:t>Haga clic para modificar el estilo de texto del patrón</a:t>
            </a:r>
          </a:p>
        </p:txBody>
      </p:sp>
      <p:sp>
        <p:nvSpPr>
          <p:cNvPr id="5" name="Marcador de fecha 4"/>
          <p:cNvSpPr>
            <a:spLocks noGrp="1"/>
          </p:cNvSpPr>
          <p:nvPr>
            <p:ph type="dt" sz="half" idx="10"/>
          </p:nvPr>
        </p:nvSpPr>
        <p:spPr/>
        <p:txBody>
          <a:bodyPr/>
          <a:lstStyle/>
          <a:p>
            <a:fld id="{B3030C24-9424-B24A-8613-79990C3AA492}" type="datetimeFigureOut">
              <a:rPr lang="es-ES" smtClean="0"/>
              <a:t>31/07/2023</a:t>
            </a:fld>
            <a:endParaRPr lang="es-ES"/>
          </a:p>
        </p:txBody>
      </p:sp>
      <p:sp>
        <p:nvSpPr>
          <p:cNvPr id="6" name="Marcador de pie de página 5"/>
          <p:cNvSpPr>
            <a:spLocks noGrp="1"/>
          </p:cNvSpPr>
          <p:nvPr>
            <p:ph type="ftr" sz="quarter" idx="11"/>
          </p:nvPr>
        </p:nvSpPr>
        <p:spPr/>
        <p:txBody>
          <a:bodyPr/>
          <a:lstStyle/>
          <a:p>
            <a:endParaRPr lang="es-ES"/>
          </a:p>
        </p:txBody>
      </p:sp>
      <p:sp>
        <p:nvSpPr>
          <p:cNvPr id="7" name="Marcador de número de diapositiva 6"/>
          <p:cNvSpPr>
            <a:spLocks noGrp="1"/>
          </p:cNvSpPr>
          <p:nvPr>
            <p:ph type="sldNum" sz="quarter" idx="12"/>
          </p:nvPr>
        </p:nvSpPr>
        <p:spPr/>
        <p:txBody>
          <a:bodyPr/>
          <a:lstStyle/>
          <a:p>
            <a:fld id="{6E4248DC-D261-1A47-8987-CC426E938172}" type="slidenum">
              <a:rPr lang="es-ES" smtClean="0"/>
              <a:t>‹Nº›</a:t>
            </a:fld>
            <a:endParaRPr lang="es-ES"/>
          </a:p>
        </p:txBody>
      </p:sp>
    </p:spTree>
    <p:extLst>
      <p:ext uri="{BB962C8B-B14F-4D97-AF65-F5344CB8AC3E}">
        <p14:creationId xmlns:p14="http://schemas.microsoft.com/office/powerpoint/2010/main" val="3227824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_tradnl"/>
              <a:t>Clic para editar título</a:t>
            </a:r>
            <a:endParaRPr lang="es-ES"/>
          </a:p>
        </p:txBody>
      </p:sp>
      <p:sp>
        <p:nvSpPr>
          <p:cNvPr id="3" name="Marcador de texto vertical 2"/>
          <p:cNvSpPr>
            <a:spLocks noGrp="1"/>
          </p:cNvSpPr>
          <p:nvPr>
            <p:ph type="body" orient="vert" idx="1"/>
          </p:nvPr>
        </p:nvSpPr>
        <p:spPr/>
        <p:txBody>
          <a:bodyPr vert="eaVert"/>
          <a:lstStyle/>
          <a:p>
            <a:pPr lvl="0"/>
            <a:r>
              <a:rPr lang="es-ES_tradnl"/>
              <a:t>Haga clic para modificar el estilo de texto del patrón</a:t>
            </a:r>
          </a:p>
          <a:p>
            <a:pPr lvl="1"/>
            <a:r>
              <a:rPr lang="es-ES_tradnl"/>
              <a:t>Segundo nivel</a:t>
            </a:r>
          </a:p>
          <a:p>
            <a:pPr lvl="2"/>
            <a:r>
              <a:rPr lang="es-ES_tradnl"/>
              <a:t>Tercer nivel</a:t>
            </a:r>
          </a:p>
          <a:p>
            <a:pPr lvl="3"/>
            <a:r>
              <a:rPr lang="es-ES_tradnl"/>
              <a:t>Cuarto nivel</a:t>
            </a:r>
          </a:p>
          <a:p>
            <a:pPr lvl="4"/>
            <a:r>
              <a:rPr lang="es-ES_tradnl"/>
              <a:t>Quinto nivel</a:t>
            </a:r>
            <a:endParaRPr lang="es-ES"/>
          </a:p>
        </p:txBody>
      </p:sp>
      <p:sp>
        <p:nvSpPr>
          <p:cNvPr id="4" name="Marcador de fecha 3"/>
          <p:cNvSpPr>
            <a:spLocks noGrp="1"/>
          </p:cNvSpPr>
          <p:nvPr>
            <p:ph type="dt" sz="half" idx="10"/>
          </p:nvPr>
        </p:nvSpPr>
        <p:spPr/>
        <p:txBody>
          <a:bodyPr/>
          <a:lstStyle/>
          <a:p>
            <a:fld id="{B3030C24-9424-B24A-8613-79990C3AA492}" type="datetimeFigureOut">
              <a:rPr lang="es-ES" smtClean="0"/>
              <a:t>31/07/2023</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6E4248DC-D261-1A47-8987-CC426E938172}" type="slidenum">
              <a:rPr lang="es-ES" smtClean="0"/>
              <a:t>‹Nº›</a:t>
            </a:fld>
            <a:endParaRPr lang="es-ES"/>
          </a:p>
        </p:txBody>
      </p:sp>
    </p:spTree>
    <p:extLst>
      <p:ext uri="{BB962C8B-B14F-4D97-AF65-F5344CB8AC3E}">
        <p14:creationId xmlns:p14="http://schemas.microsoft.com/office/powerpoint/2010/main" val="31575770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6629400" y="205979"/>
            <a:ext cx="2057400" cy="4388644"/>
          </a:xfrm>
        </p:spPr>
        <p:txBody>
          <a:bodyPr vert="eaVert"/>
          <a:lstStyle/>
          <a:p>
            <a:r>
              <a:rPr lang="es-ES_tradnl"/>
              <a:t>Clic para editar título</a:t>
            </a:r>
            <a:endParaRPr lang="es-ES"/>
          </a:p>
        </p:txBody>
      </p:sp>
      <p:sp>
        <p:nvSpPr>
          <p:cNvPr id="3" name="Marcador de texto vertical 2"/>
          <p:cNvSpPr>
            <a:spLocks noGrp="1"/>
          </p:cNvSpPr>
          <p:nvPr>
            <p:ph type="body" orient="vert" idx="1"/>
          </p:nvPr>
        </p:nvSpPr>
        <p:spPr>
          <a:xfrm>
            <a:off x="457200" y="205979"/>
            <a:ext cx="6019800" cy="4388644"/>
          </a:xfrm>
        </p:spPr>
        <p:txBody>
          <a:bodyPr vert="eaVert"/>
          <a:lstStyle/>
          <a:p>
            <a:pPr lvl="0"/>
            <a:r>
              <a:rPr lang="es-ES_tradnl"/>
              <a:t>Haga clic para modificar el estilo de texto del patrón</a:t>
            </a:r>
          </a:p>
          <a:p>
            <a:pPr lvl="1"/>
            <a:r>
              <a:rPr lang="es-ES_tradnl"/>
              <a:t>Segundo nivel</a:t>
            </a:r>
          </a:p>
          <a:p>
            <a:pPr lvl="2"/>
            <a:r>
              <a:rPr lang="es-ES_tradnl"/>
              <a:t>Tercer nivel</a:t>
            </a:r>
          </a:p>
          <a:p>
            <a:pPr lvl="3"/>
            <a:r>
              <a:rPr lang="es-ES_tradnl"/>
              <a:t>Cuarto nivel</a:t>
            </a:r>
          </a:p>
          <a:p>
            <a:pPr lvl="4"/>
            <a:r>
              <a:rPr lang="es-ES_tradnl"/>
              <a:t>Quinto nivel</a:t>
            </a:r>
            <a:endParaRPr lang="es-ES"/>
          </a:p>
        </p:txBody>
      </p:sp>
      <p:sp>
        <p:nvSpPr>
          <p:cNvPr id="4" name="Marcador de fecha 3"/>
          <p:cNvSpPr>
            <a:spLocks noGrp="1"/>
          </p:cNvSpPr>
          <p:nvPr>
            <p:ph type="dt" sz="half" idx="10"/>
          </p:nvPr>
        </p:nvSpPr>
        <p:spPr/>
        <p:txBody>
          <a:bodyPr/>
          <a:lstStyle/>
          <a:p>
            <a:fld id="{B3030C24-9424-B24A-8613-79990C3AA492}" type="datetimeFigureOut">
              <a:rPr lang="es-ES" smtClean="0"/>
              <a:t>31/07/2023</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6E4248DC-D261-1A47-8987-CC426E938172}" type="slidenum">
              <a:rPr lang="es-ES" smtClean="0"/>
              <a:t>‹Nº›</a:t>
            </a:fld>
            <a:endParaRPr lang="es-ES"/>
          </a:p>
        </p:txBody>
      </p:sp>
    </p:spTree>
    <p:extLst>
      <p:ext uri="{BB962C8B-B14F-4D97-AF65-F5344CB8AC3E}">
        <p14:creationId xmlns:p14="http://schemas.microsoft.com/office/powerpoint/2010/main" val="20105722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es-ES_tradnl"/>
              <a:t>Clic para editar título</a:t>
            </a:r>
            <a:endParaRPr lang="es-ES"/>
          </a:p>
        </p:txBody>
      </p:sp>
      <p:sp>
        <p:nvSpPr>
          <p:cNvPr id="3" name="Marcador de texto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es-ES_tradnl"/>
              <a:t>Haga clic para modificar el estilo de texto del patrón</a:t>
            </a:r>
          </a:p>
          <a:p>
            <a:pPr lvl="1"/>
            <a:r>
              <a:rPr lang="es-ES_tradnl"/>
              <a:t>Segundo nivel</a:t>
            </a:r>
          </a:p>
          <a:p>
            <a:pPr lvl="2"/>
            <a:r>
              <a:rPr lang="es-ES_tradnl"/>
              <a:t>Tercer nivel</a:t>
            </a:r>
          </a:p>
          <a:p>
            <a:pPr lvl="3"/>
            <a:r>
              <a:rPr lang="es-ES_tradnl"/>
              <a:t>Cuarto nivel</a:t>
            </a:r>
          </a:p>
          <a:p>
            <a:pPr lvl="4"/>
            <a:r>
              <a:rPr lang="es-ES_tradnl"/>
              <a:t>Quinto nivel</a:t>
            </a:r>
            <a:endParaRPr lang="es-ES"/>
          </a:p>
        </p:txBody>
      </p:sp>
      <p:sp>
        <p:nvSpPr>
          <p:cNvPr id="4" name="Marcador de fecha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B3030C24-9424-B24A-8613-79990C3AA492}" type="datetimeFigureOut">
              <a:rPr lang="es-ES" smtClean="0"/>
              <a:t>31/07/2023</a:t>
            </a:fld>
            <a:endParaRPr lang="es-ES"/>
          </a:p>
        </p:txBody>
      </p:sp>
      <p:sp>
        <p:nvSpPr>
          <p:cNvPr id="5" name="Marcador de pie de página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ES"/>
          </a:p>
        </p:txBody>
      </p:sp>
      <p:sp>
        <p:nvSpPr>
          <p:cNvPr id="6" name="Marcador de número de diapositiva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6E4248DC-D261-1A47-8987-CC426E938172}" type="slidenum">
              <a:rPr lang="es-ES" smtClean="0"/>
              <a:t>‹Nº›</a:t>
            </a:fld>
            <a:endParaRPr lang="es-ES"/>
          </a:p>
        </p:txBody>
      </p:sp>
    </p:spTree>
    <p:extLst>
      <p:ext uri="{BB962C8B-B14F-4D97-AF65-F5344CB8AC3E}">
        <p14:creationId xmlns:p14="http://schemas.microsoft.com/office/powerpoint/2010/main" val="374585036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s-E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5.xml"/><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5.xml"/><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5.xml"/><Relationship Id="rId5" Type="http://schemas.openxmlformats.org/officeDocument/2006/relationships/image" Target="../media/image15.png"/><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5.xml"/><Relationship Id="rId4" Type="http://schemas.openxmlformats.org/officeDocument/2006/relationships/image" Target="../media/image17.png"/></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0.xml"/><Relationship Id="rId1" Type="http://schemas.openxmlformats.org/officeDocument/2006/relationships/slideLayout" Target="../slideLayouts/slideLayout5.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1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1.xml"/><Relationship Id="rId1" Type="http://schemas.openxmlformats.org/officeDocument/2006/relationships/slideLayout" Target="../slideLayouts/slideLayout5.xml"/><Relationship Id="rId4" Type="http://schemas.openxmlformats.org/officeDocument/2006/relationships/image" Target="../media/image22.png"/></Relationships>
</file>

<file path=ppt/slides/_rels/slide1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3.xml"/><Relationship Id="rId1" Type="http://schemas.openxmlformats.org/officeDocument/2006/relationships/slideLayout" Target="../slideLayouts/slideLayout5.xml"/><Relationship Id="rId4" Type="http://schemas.openxmlformats.org/officeDocument/2006/relationships/image" Target="../media/image25.png"/></Relationships>
</file>

<file path=ppt/slides/_rels/slide1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4.xml"/><Relationship Id="rId1" Type="http://schemas.openxmlformats.org/officeDocument/2006/relationships/slideLayout" Target="../slideLayouts/slideLayout5.xml"/><Relationship Id="rId4" Type="http://schemas.openxmlformats.org/officeDocument/2006/relationships/image" Target="../media/image26.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p:cNvSpPr txBox="1"/>
          <p:nvPr/>
        </p:nvSpPr>
        <p:spPr>
          <a:xfrm>
            <a:off x="821933" y="1929324"/>
            <a:ext cx="7614654" cy="830997"/>
          </a:xfrm>
          <a:prstGeom prst="rect">
            <a:avLst/>
          </a:prstGeom>
          <a:noFill/>
        </p:spPr>
        <p:txBody>
          <a:bodyPr wrap="square" rtlCol="0">
            <a:spAutoFit/>
          </a:bodyPr>
          <a:lstStyle/>
          <a:p>
            <a:pPr algn="ctr"/>
            <a:r>
              <a:rPr lang="es-CO" sz="2400" b="1" dirty="0"/>
              <a:t>MODELADO DE DATOS</a:t>
            </a:r>
            <a:endParaRPr lang="es-ES" sz="2400" b="1" dirty="0">
              <a:solidFill>
                <a:srgbClr val="5E5C5D"/>
              </a:solidFill>
              <a:cs typeface="Calibri"/>
            </a:endParaRPr>
          </a:p>
          <a:p>
            <a:pPr algn="ctr"/>
            <a:endParaRPr lang="es-ES" sz="2400" b="1" dirty="0">
              <a:solidFill>
                <a:schemeClr val="tx1">
                  <a:lumMod val="75000"/>
                  <a:lumOff val="25000"/>
                </a:schemeClr>
              </a:solidFill>
            </a:endParaRPr>
          </a:p>
        </p:txBody>
      </p:sp>
    </p:spTree>
    <p:extLst>
      <p:ext uri="{BB962C8B-B14F-4D97-AF65-F5344CB8AC3E}">
        <p14:creationId xmlns:p14="http://schemas.microsoft.com/office/powerpoint/2010/main" val="30832684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p:cNvSpPr txBox="1"/>
          <p:nvPr/>
        </p:nvSpPr>
        <p:spPr>
          <a:xfrm>
            <a:off x="382868" y="249495"/>
            <a:ext cx="6579792" cy="646331"/>
          </a:xfrm>
          <a:prstGeom prst="rect">
            <a:avLst/>
          </a:prstGeom>
          <a:noFill/>
        </p:spPr>
        <p:txBody>
          <a:bodyPr wrap="square" rtlCol="0">
            <a:spAutoFit/>
          </a:bodyPr>
          <a:lstStyle/>
          <a:p>
            <a:r>
              <a:rPr lang="es-ES" sz="3600" b="1" dirty="0">
                <a:solidFill>
                  <a:schemeClr val="bg1"/>
                </a:solidFill>
              </a:rPr>
              <a:t>Modelado de Datos - MR</a:t>
            </a:r>
          </a:p>
        </p:txBody>
      </p:sp>
      <p:sp>
        <p:nvSpPr>
          <p:cNvPr id="5" name="CuadroTexto 4"/>
          <p:cNvSpPr txBox="1"/>
          <p:nvPr/>
        </p:nvSpPr>
        <p:spPr>
          <a:xfrm>
            <a:off x="876858" y="1196803"/>
            <a:ext cx="6762798" cy="523220"/>
          </a:xfrm>
          <a:prstGeom prst="rect">
            <a:avLst/>
          </a:prstGeom>
          <a:noFill/>
        </p:spPr>
        <p:txBody>
          <a:bodyPr wrap="square" rtlCol="0">
            <a:spAutoFit/>
          </a:bodyPr>
          <a:lstStyle/>
          <a:p>
            <a:pPr algn="ctr"/>
            <a:r>
              <a:rPr lang="es-CO" sz="2800" b="1" dirty="0">
                <a:latin typeface="+mj-lt"/>
              </a:rPr>
              <a:t>OBJETIVO</a:t>
            </a:r>
            <a:endParaRPr lang="es-ES" sz="2800" b="1" dirty="0">
              <a:solidFill>
                <a:srgbClr val="5E5C5D"/>
              </a:solidFill>
              <a:latin typeface="+mj-lt"/>
              <a:cs typeface="Calibri"/>
            </a:endParaRPr>
          </a:p>
        </p:txBody>
      </p:sp>
      <p:sp>
        <p:nvSpPr>
          <p:cNvPr id="7" name="CuadroTexto 6"/>
          <p:cNvSpPr txBox="1"/>
          <p:nvPr/>
        </p:nvSpPr>
        <p:spPr>
          <a:xfrm>
            <a:off x="513708" y="2116486"/>
            <a:ext cx="8294901" cy="1384995"/>
          </a:xfrm>
          <a:prstGeom prst="rect">
            <a:avLst/>
          </a:prstGeom>
          <a:noFill/>
        </p:spPr>
        <p:txBody>
          <a:bodyPr wrap="square" rtlCol="0">
            <a:spAutoFit/>
          </a:bodyPr>
          <a:lstStyle/>
          <a:p>
            <a:r>
              <a:rPr lang="es-CO" sz="2800" b="1" dirty="0"/>
              <a:t>Conocer los conceptos  del modelo relacional (MR) y transformación del Modelo Entidad Relación al Modelo Lógico(MR).</a:t>
            </a:r>
            <a:endParaRPr lang="es-ES" sz="2800" b="1" dirty="0">
              <a:solidFill>
                <a:srgbClr val="5E5C5D"/>
              </a:solidFill>
              <a:latin typeface="Calibri"/>
              <a:cs typeface="Calibri"/>
            </a:endParaRPr>
          </a:p>
        </p:txBody>
      </p:sp>
    </p:spTree>
    <p:extLst>
      <p:ext uri="{BB962C8B-B14F-4D97-AF65-F5344CB8AC3E}">
        <p14:creationId xmlns:p14="http://schemas.microsoft.com/office/powerpoint/2010/main" val="20675768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p:cNvSpPr txBox="1"/>
          <p:nvPr/>
        </p:nvSpPr>
        <p:spPr>
          <a:xfrm>
            <a:off x="382868" y="249495"/>
            <a:ext cx="6579792" cy="646331"/>
          </a:xfrm>
          <a:prstGeom prst="rect">
            <a:avLst/>
          </a:prstGeom>
          <a:noFill/>
        </p:spPr>
        <p:txBody>
          <a:bodyPr wrap="square" rtlCol="0">
            <a:spAutoFit/>
          </a:bodyPr>
          <a:lstStyle/>
          <a:p>
            <a:r>
              <a:rPr lang="es-ES" sz="3600" b="1" dirty="0">
                <a:solidFill>
                  <a:schemeClr val="bg1"/>
                </a:solidFill>
              </a:rPr>
              <a:t>Modelado de Datos - MR</a:t>
            </a:r>
          </a:p>
        </p:txBody>
      </p:sp>
      <p:sp>
        <p:nvSpPr>
          <p:cNvPr id="3" name="CuadroTexto 6">
            <a:extLst>
              <a:ext uri="{FF2B5EF4-FFF2-40B4-BE49-F238E27FC236}">
                <a16:creationId xmlns:a16="http://schemas.microsoft.com/office/drawing/2014/main" id="{B3388196-47E6-4817-9F01-B8DFD66F1D0A}"/>
              </a:ext>
            </a:extLst>
          </p:cNvPr>
          <p:cNvSpPr txBox="1"/>
          <p:nvPr/>
        </p:nvSpPr>
        <p:spPr>
          <a:xfrm>
            <a:off x="4771363" y="1129351"/>
            <a:ext cx="4130590" cy="2123658"/>
          </a:xfrm>
          <a:prstGeom prst="rect">
            <a:avLst/>
          </a:prstGeom>
          <a:noFill/>
        </p:spPr>
        <p:txBody>
          <a:bodyPr wrap="square" rtlCol="0">
            <a:spAutoFit/>
          </a:bodyPr>
          <a:lstStyle/>
          <a:p>
            <a:pPr algn="ctr"/>
            <a:r>
              <a:rPr lang="es-CO" sz="2000" b="1" dirty="0"/>
              <a:t>MODELO RELACIONAL (LOGICO)</a:t>
            </a:r>
            <a:r>
              <a:rPr lang="es-CO" sz="2000" dirty="0"/>
              <a:t>: </a:t>
            </a:r>
          </a:p>
          <a:p>
            <a:pPr algn="ctr"/>
            <a:endParaRPr lang="es-CO" sz="3200" dirty="0"/>
          </a:p>
          <a:p>
            <a:pPr algn="just"/>
            <a:r>
              <a:rPr lang="es-CO" sz="2000" dirty="0">
                <a:solidFill>
                  <a:srgbClr val="FF0000"/>
                </a:solidFill>
              </a:rPr>
              <a:t>El modelo relacional es un dibujo que representa las tablas, atributos, llaves primarias y llaves foráneas según la transformación realizada</a:t>
            </a:r>
            <a:r>
              <a:rPr lang="es-CO" sz="2000" dirty="0"/>
              <a:t>.</a:t>
            </a:r>
          </a:p>
        </p:txBody>
      </p:sp>
      <p:sp>
        <p:nvSpPr>
          <p:cNvPr id="4" name="CuadroTexto 2">
            <a:extLst>
              <a:ext uri="{FF2B5EF4-FFF2-40B4-BE49-F238E27FC236}">
                <a16:creationId xmlns:a16="http://schemas.microsoft.com/office/drawing/2014/main" id="{EEFA9322-C104-444D-8F47-F70FDF47BFDA}"/>
              </a:ext>
            </a:extLst>
          </p:cNvPr>
          <p:cNvSpPr txBox="1"/>
          <p:nvPr/>
        </p:nvSpPr>
        <p:spPr>
          <a:xfrm>
            <a:off x="156986" y="1094422"/>
            <a:ext cx="4415014" cy="2646878"/>
          </a:xfrm>
          <a:prstGeom prst="rect">
            <a:avLst/>
          </a:prstGeom>
          <a:noFill/>
        </p:spPr>
        <p:txBody>
          <a:bodyPr wrap="square" rtlCol="0">
            <a:spAutoFit/>
          </a:bodyPr>
          <a:lstStyle/>
          <a:p>
            <a:r>
              <a:rPr lang="es-CO" sz="2400" b="1" dirty="0"/>
              <a:t>MODELO ENTIDAD RELACION :</a:t>
            </a:r>
          </a:p>
          <a:p>
            <a:endParaRPr lang="es-CO" sz="2400" b="1" dirty="0"/>
          </a:p>
          <a:p>
            <a:pPr algn="just"/>
            <a:r>
              <a:rPr lang="es-CO" sz="2000" dirty="0"/>
              <a:t>Técnica de análisis basada en la identificación de las entidades y de las relaciones que se dan entre ellas en la parte de realidad que pretendemos modelar.</a:t>
            </a:r>
          </a:p>
          <a:p>
            <a:endParaRPr lang="es-CO" dirty="0"/>
          </a:p>
        </p:txBody>
      </p:sp>
      <p:pic>
        <p:nvPicPr>
          <p:cNvPr id="5" name="Imagen 3">
            <a:extLst>
              <a:ext uri="{FF2B5EF4-FFF2-40B4-BE49-F238E27FC236}">
                <a16:creationId xmlns:a16="http://schemas.microsoft.com/office/drawing/2014/main" id="{0DFFA484-B08F-4C12-8B25-BD17A79E0A65}"/>
              </a:ext>
            </a:extLst>
          </p:cNvPr>
          <p:cNvPicPr>
            <a:picLocks noChangeAspect="1"/>
          </p:cNvPicPr>
          <p:nvPr/>
        </p:nvPicPr>
        <p:blipFill>
          <a:blip r:embed="rId3"/>
          <a:stretch>
            <a:fillRect/>
          </a:stretch>
        </p:blipFill>
        <p:spPr>
          <a:xfrm>
            <a:off x="156986" y="3416678"/>
            <a:ext cx="4765888" cy="1477327"/>
          </a:xfrm>
          <a:prstGeom prst="rect">
            <a:avLst/>
          </a:prstGeom>
        </p:spPr>
      </p:pic>
      <p:pic>
        <p:nvPicPr>
          <p:cNvPr id="6" name="Imagen 4">
            <a:extLst>
              <a:ext uri="{FF2B5EF4-FFF2-40B4-BE49-F238E27FC236}">
                <a16:creationId xmlns:a16="http://schemas.microsoft.com/office/drawing/2014/main" id="{5649C5B5-0695-4B4F-82A8-4B16572F8F3E}"/>
              </a:ext>
            </a:extLst>
          </p:cNvPr>
          <p:cNvPicPr>
            <a:picLocks noChangeAspect="1"/>
          </p:cNvPicPr>
          <p:nvPr/>
        </p:nvPicPr>
        <p:blipFill>
          <a:blip r:embed="rId4"/>
          <a:stretch>
            <a:fillRect/>
          </a:stretch>
        </p:blipFill>
        <p:spPr>
          <a:xfrm>
            <a:off x="5119577" y="3436016"/>
            <a:ext cx="3782376" cy="1603817"/>
          </a:xfrm>
          <a:prstGeom prst="rect">
            <a:avLst/>
          </a:prstGeom>
        </p:spPr>
      </p:pic>
    </p:spTree>
    <p:extLst>
      <p:ext uri="{BB962C8B-B14F-4D97-AF65-F5344CB8AC3E}">
        <p14:creationId xmlns:p14="http://schemas.microsoft.com/office/powerpoint/2010/main" val="13600506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p:cNvSpPr txBox="1"/>
          <p:nvPr/>
        </p:nvSpPr>
        <p:spPr>
          <a:xfrm>
            <a:off x="382868" y="249495"/>
            <a:ext cx="6579792" cy="646331"/>
          </a:xfrm>
          <a:prstGeom prst="rect">
            <a:avLst/>
          </a:prstGeom>
          <a:noFill/>
        </p:spPr>
        <p:txBody>
          <a:bodyPr wrap="square" rtlCol="0">
            <a:spAutoFit/>
          </a:bodyPr>
          <a:lstStyle/>
          <a:p>
            <a:r>
              <a:rPr lang="es-ES" sz="3600" b="1" dirty="0">
                <a:solidFill>
                  <a:schemeClr val="bg1"/>
                </a:solidFill>
              </a:rPr>
              <a:t>Modelado de Datos - MR</a:t>
            </a:r>
          </a:p>
        </p:txBody>
      </p:sp>
      <p:pic>
        <p:nvPicPr>
          <p:cNvPr id="3" name="Imagen 11">
            <a:extLst>
              <a:ext uri="{FF2B5EF4-FFF2-40B4-BE49-F238E27FC236}">
                <a16:creationId xmlns:a16="http://schemas.microsoft.com/office/drawing/2014/main" id="{4D63299B-767F-48D3-A751-304219AE36BB}"/>
              </a:ext>
            </a:extLst>
          </p:cNvPr>
          <p:cNvPicPr>
            <a:picLocks noChangeAspect="1"/>
          </p:cNvPicPr>
          <p:nvPr/>
        </p:nvPicPr>
        <p:blipFill rotWithShape="1">
          <a:blip r:embed="rId3"/>
          <a:srcRect t="10096"/>
          <a:stretch/>
        </p:blipFill>
        <p:spPr>
          <a:xfrm>
            <a:off x="2438189" y="1219462"/>
            <a:ext cx="4905260" cy="3730523"/>
          </a:xfrm>
          <a:prstGeom prst="rect">
            <a:avLst/>
          </a:prstGeom>
        </p:spPr>
      </p:pic>
      <p:sp>
        <p:nvSpPr>
          <p:cNvPr id="4" name="Flecha derecha 2">
            <a:extLst>
              <a:ext uri="{FF2B5EF4-FFF2-40B4-BE49-F238E27FC236}">
                <a16:creationId xmlns:a16="http://schemas.microsoft.com/office/drawing/2014/main" id="{70C4E67D-551E-4097-8270-36F29ECFB458}"/>
              </a:ext>
            </a:extLst>
          </p:cNvPr>
          <p:cNvSpPr/>
          <p:nvPr/>
        </p:nvSpPr>
        <p:spPr>
          <a:xfrm>
            <a:off x="1535712" y="3075371"/>
            <a:ext cx="976905" cy="31835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Tree>
    <p:extLst>
      <p:ext uri="{BB962C8B-B14F-4D97-AF65-F5344CB8AC3E}">
        <p14:creationId xmlns:p14="http://schemas.microsoft.com/office/powerpoint/2010/main" val="39794591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p:cNvSpPr txBox="1"/>
          <p:nvPr/>
        </p:nvSpPr>
        <p:spPr>
          <a:xfrm>
            <a:off x="382868" y="249495"/>
            <a:ext cx="6579792" cy="646331"/>
          </a:xfrm>
          <a:prstGeom prst="rect">
            <a:avLst/>
          </a:prstGeom>
          <a:noFill/>
        </p:spPr>
        <p:txBody>
          <a:bodyPr wrap="square" rtlCol="0">
            <a:spAutoFit/>
          </a:bodyPr>
          <a:lstStyle/>
          <a:p>
            <a:r>
              <a:rPr lang="es-ES" sz="3600" b="1" dirty="0">
                <a:solidFill>
                  <a:schemeClr val="bg1"/>
                </a:solidFill>
              </a:rPr>
              <a:t>Modelado de Datos - MR</a:t>
            </a:r>
          </a:p>
        </p:txBody>
      </p:sp>
      <p:pic>
        <p:nvPicPr>
          <p:cNvPr id="3" name="Imagen 4">
            <a:extLst>
              <a:ext uri="{FF2B5EF4-FFF2-40B4-BE49-F238E27FC236}">
                <a16:creationId xmlns:a16="http://schemas.microsoft.com/office/drawing/2014/main" id="{B4F26460-4193-40B8-8A3B-D0D637792E2C}"/>
              </a:ext>
            </a:extLst>
          </p:cNvPr>
          <p:cNvPicPr>
            <a:picLocks noChangeAspect="1"/>
          </p:cNvPicPr>
          <p:nvPr/>
        </p:nvPicPr>
        <p:blipFill>
          <a:blip r:embed="rId3"/>
          <a:stretch>
            <a:fillRect/>
          </a:stretch>
        </p:blipFill>
        <p:spPr>
          <a:xfrm>
            <a:off x="215967" y="1974964"/>
            <a:ext cx="3920098" cy="2589353"/>
          </a:xfrm>
          <a:prstGeom prst="rect">
            <a:avLst/>
          </a:prstGeom>
        </p:spPr>
      </p:pic>
      <p:pic>
        <p:nvPicPr>
          <p:cNvPr id="4" name="Imagen 5">
            <a:extLst>
              <a:ext uri="{FF2B5EF4-FFF2-40B4-BE49-F238E27FC236}">
                <a16:creationId xmlns:a16="http://schemas.microsoft.com/office/drawing/2014/main" id="{813E8746-E0A9-4865-ADE5-FCF094FA1829}"/>
              </a:ext>
            </a:extLst>
          </p:cNvPr>
          <p:cNvPicPr>
            <a:picLocks noChangeAspect="1"/>
          </p:cNvPicPr>
          <p:nvPr/>
        </p:nvPicPr>
        <p:blipFill>
          <a:blip r:embed="rId4"/>
          <a:stretch>
            <a:fillRect/>
          </a:stretch>
        </p:blipFill>
        <p:spPr>
          <a:xfrm>
            <a:off x="4572000" y="1974964"/>
            <a:ext cx="4203194" cy="2589353"/>
          </a:xfrm>
          <a:prstGeom prst="rect">
            <a:avLst/>
          </a:prstGeom>
        </p:spPr>
      </p:pic>
      <p:sp>
        <p:nvSpPr>
          <p:cNvPr id="5" name="TextBox 4">
            <a:extLst>
              <a:ext uri="{FF2B5EF4-FFF2-40B4-BE49-F238E27FC236}">
                <a16:creationId xmlns:a16="http://schemas.microsoft.com/office/drawing/2014/main" id="{E4E21345-84B8-44B4-AAE2-1D74D6BC4699}"/>
              </a:ext>
            </a:extLst>
          </p:cNvPr>
          <p:cNvSpPr txBox="1"/>
          <p:nvPr/>
        </p:nvSpPr>
        <p:spPr>
          <a:xfrm>
            <a:off x="344869" y="1250729"/>
            <a:ext cx="4002314" cy="369332"/>
          </a:xfrm>
          <a:prstGeom prst="rect">
            <a:avLst/>
          </a:prstGeom>
          <a:noFill/>
        </p:spPr>
        <p:txBody>
          <a:bodyPr wrap="none" rtlCol="0">
            <a:spAutoFit/>
          </a:bodyPr>
          <a:lstStyle/>
          <a:p>
            <a:r>
              <a:rPr lang="es-MX" dirty="0"/>
              <a:t>TRANSFORMAR DEL MODELO MER A MR</a:t>
            </a:r>
          </a:p>
        </p:txBody>
      </p:sp>
    </p:spTree>
    <p:extLst>
      <p:ext uri="{BB962C8B-B14F-4D97-AF65-F5344CB8AC3E}">
        <p14:creationId xmlns:p14="http://schemas.microsoft.com/office/powerpoint/2010/main" val="32693546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p:cNvSpPr txBox="1"/>
          <p:nvPr/>
        </p:nvSpPr>
        <p:spPr>
          <a:xfrm>
            <a:off x="382868" y="249495"/>
            <a:ext cx="6579792" cy="646331"/>
          </a:xfrm>
          <a:prstGeom prst="rect">
            <a:avLst/>
          </a:prstGeom>
          <a:noFill/>
        </p:spPr>
        <p:txBody>
          <a:bodyPr wrap="square" rtlCol="0">
            <a:spAutoFit/>
          </a:bodyPr>
          <a:lstStyle/>
          <a:p>
            <a:r>
              <a:rPr lang="es-ES" sz="3600" b="1" dirty="0">
                <a:solidFill>
                  <a:schemeClr val="bg1"/>
                </a:solidFill>
              </a:rPr>
              <a:t>Modelado de Datos - MR</a:t>
            </a:r>
          </a:p>
        </p:txBody>
      </p:sp>
      <p:sp>
        <p:nvSpPr>
          <p:cNvPr id="3" name="CuadroTexto 3">
            <a:extLst>
              <a:ext uri="{FF2B5EF4-FFF2-40B4-BE49-F238E27FC236}">
                <a16:creationId xmlns:a16="http://schemas.microsoft.com/office/drawing/2014/main" id="{726F9D24-C977-42E7-B6E6-58C4CE4EE8CD}"/>
              </a:ext>
            </a:extLst>
          </p:cNvPr>
          <p:cNvSpPr txBox="1"/>
          <p:nvPr/>
        </p:nvSpPr>
        <p:spPr>
          <a:xfrm>
            <a:off x="290278" y="1162657"/>
            <a:ext cx="8577276" cy="3477875"/>
          </a:xfrm>
          <a:prstGeom prst="rect">
            <a:avLst/>
          </a:prstGeom>
          <a:noFill/>
        </p:spPr>
        <p:txBody>
          <a:bodyPr wrap="square" rtlCol="0">
            <a:spAutoFit/>
          </a:bodyPr>
          <a:lstStyle/>
          <a:p>
            <a:pPr algn="ctr"/>
            <a:r>
              <a:rPr lang="es-CO" sz="2000" b="1" dirty="0"/>
              <a:t> TRANSFORMACIÓN MER A MODELO RELACIONAL</a:t>
            </a:r>
          </a:p>
          <a:p>
            <a:endParaRPr lang="es-CO" sz="2000" b="1" dirty="0"/>
          </a:p>
          <a:p>
            <a:pPr algn="just"/>
            <a:r>
              <a:rPr lang="es-CO" sz="2000" dirty="0"/>
              <a:t>Uno de los pasos iniciales para la construcción de una base de datos es el modelado de ellos por medio de un Modelo Entidad Relación (MER), modelo que permite por medio de entidades, atributos y relaciones acercarse a una representación preliminar del diseño de una base de datos.</a:t>
            </a:r>
          </a:p>
          <a:p>
            <a:pPr algn="just"/>
            <a:endParaRPr lang="es-CO" sz="2000" dirty="0"/>
          </a:p>
          <a:p>
            <a:pPr algn="just"/>
            <a:r>
              <a:rPr lang="es-CO" sz="2000" dirty="0"/>
              <a:t>Luego de terminar un MER debe entrarse en el diseño de un modelo lógico, el cual es llamado modelo relacional. La forma como se logra desarrollar una base de datos relacional es a través del modelado y la metodología de diseño de una base de datos puede estar enfocada en los siguientes 3 pasos:</a:t>
            </a:r>
          </a:p>
        </p:txBody>
      </p:sp>
    </p:spTree>
    <p:extLst>
      <p:ext uri="{BB962C8B-B14F-4D97-AF65-F5344CB8AC3E}">
        <p14:creationId xmlns:p14="http://schemas.microsoft.com/office/powerpoint/2010/main" val="42419542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p:cNvSpPr txBox="1"/>
          <p:nvPr/>
        </p:nvSpPr>
        <p:spPr>
          <a:xfrm>
            <a:off x="518667" y="355820"/>
            <a:ext cx="7942425" cy="369332"/>
          </a:xfrm>
          <a:prstGeom prst="rect">
            <a:avLst/>
          </a:prstGeom>
          <a:noFill/>
        </p:spPr>
        <p:txBody>
          <a:bodyPr wrap="square" rtlCol="0">
            <a:spAutoFit/>
          </a:bodyPr>
          <a:lstStyle/>
          <a:p>
            <a:r>
              <a:rPr lang="es-MX" sz="1800" b="1" i="0" u="none" strike="noStrike" baseline="0" dirty="0">
                <a:solidFill>
                  <a:schemeClr val="bg1"/>
                </a:solidFill>
                <a:latin typeface="Verdana-Bold"/>
              </a:rPr>
              <a:t>TRANSFORMACIÓN MER A MODELO RELACIONAL</a:t>
            </a:r>
            <a:endParaRPr lang="es-ES" sz="3600" b="1" dirty="0">
              <a:solidFill>
                <a:schemeClr val="bg1"/>
              </a:solidFill>
            </a:endParaRPr>
          </a:p>
        </p:txBody>
      </p:sp>
      <p:sp>
        <p:nvSpPr>
          <p:cNvPr id="5" name="CuadroTexto 3">
            <a:extLst>
              <a:ext uri="{FF2B5EF4-FFF2-40B4-BE49-F238E27FC236}">
                <a16:creationId xmlns:a16="http://schemas.microsoft.com/office/drawing/2014/main" id="{804F3F8C-52E3-452F-83C9-39051F890592}"/>
              </a:ext>
            </a:extLst>
          </p:cNvPr>
          <p:cNvSpPr txBox="1"/>
          <p:nvPr/>
        </p:nvSpPr>
        <p:spPr>
          <a:xfrm>
            <a:off x="350875" y="1695958"/>
            <a:ext cx="7942424" cy="1077218"/>
          </a:xfrm>
          <a:prstGeom prst="rect">
            <a:avLst/>
          </a:prstGeom>
          <a:noFill/>
        </p:spPr>
        <p:txBody>
          <a:bodyPr wrap="square" rtlCol="0">
            <a:spAutoFit/>
          </a:bodyPr>
          <a:lstStyle/>
          <a:p>
            <a:pPr algn="just"/>
            <a:r>
              <a:rPr lang="es-MX" sz="1600" dirty="0">
                <a:solidFill>
                  <a:srgbClr val="58595B"/>
                </a:solidFill>
                <a:latin typeface="Verdana" panose="020B0604030504040204" pitchFamily="34" charset="0"/>
              </a:rPr>
              <a:t>E</a:t>
            </a:r>
            <a:r>
              <a:rPr lang="es-MX" sz="1600" b="0" i="0" u="none" strike="noStrike" baseline="0" dirty="0">
                <a:solidFill>
                  <a:srgbClr val="58595B"/>
                </a:solidFill>
                <a:latin typeface="Verdana" panose="020B0604030504040204" pitchFamily="34" charset="0"/>
              </a:rPr>
              <a:t>l modelo relacional es un dibujo que representa las tablas, atributos, llaves primarias y llaves</a:t>
            </a:r>
          </a:p>
          <a:p>
            <a:pPr algn="just"/>
            <a:r>
              <a:rPr lang="es-MX" sz="1600" b="0" i="0" u="none" strike="noStrike" baseline="0" dirty="0">
                <a:solidFill>
                  <a:srgbClr val="58595B"/>
                </a:solidFill>
                <a:latin typeface="Verdana" panose="020B0604030504040204" pitchFamily="34" charset="0"/>
              </a:rPr>
              <a:t>foráneas según la transformación realizada.</a:t>
            </a:r>
          </a:p>
          <a:p>
            <a:pPr algn="just"/>
            <a:endParaRPr lang="es-MX" sz="1600" b="0" i="0" u="none" strike="noStrike" baseline="0" dirty="0">
              <a:solidFill>
                <a:srgbClr val="58595B"/>
              </a:solidFill>
              <a:latin typeface="Verdana" panose="020B0604030504040204" pitchFamily="34" charset="0"/>
            </a:endParaRPr>
          </a:p>
        </p:txBody>
      </p:sp>
    </p:spTree>
    <p:extLst>
      <p:ext uri="{BB962C8B-B14F-4D97-AF65-F5344CB8AC3E}">
        <p14:creationId xmlns:p14="http://schemas.microsoft.com/office/powerpoint/2010/main" val="8007322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p:cNvSpPr txBox="1"/>
          <p:nvPr/>
        </p:nvSpPr>
        <p:spPr>
          <a:xfrm>
            <a:off x="518667" y="355820"/>
            <a:ext cx="7942425" cy="369332"/>
          </a:xfrm>
          <a:prstGeom prst="rect">
            <a:avLst/>
          </a:prstGeom>
          <a:noFill/>
        </p:spPr>
        <p:txBody>
          <a:bodyPr wrap="square" rtlCol="0">
            <a:spAutoFit/>
          </a:bodyPr>
          <a:lstStyle/>
          <a:p>
            <a:r>
              <a:rPr lang="es-MX" sz="1800" b="1" i="0" u="none" strike="noStrike" baseline="0" dirty="0">
                <a:solidFill>
                  <a:schemeClr val="bg1"/>
                </a:solidFill>
                <a:latin typeface="Verdana-Bold"/>
              </a:rPr>
              <a:t>TRANSFORMACIÓN MER A MODELO RELACIONAL</a:t>
            </a:r>
            <a:endParaRPr lang="es-ES" sz="3600" b="1" dirty="0">
              <a:solidFill>
                <a:schemeClr val="bg1"/>
              </a:solidFill>
            </a:endParaRPr>
          </a:p>
        </p:txBody>
      </p:sp>
      <p:sp>
        <p:nvSpPr>
          <p:cNvPr id="4" name="CuadroTexto 2">
            <a:extLst>
              <a:ext uri="{FF2B5EF4-FFF2-40B4-BE49-F238E27FC236}">
                <a16:creationId xmlns:a16="http://schemas.microsoft.com/office/drawing/2014/main" id="{7C6414CE-2F60-4C7C-9E7C-188111FE3501}"/>
              </a:ext>
            </a:extLst>
          </p:cNvPr>
          <p:cNvSpPr txBox="1"/>
          <p:nvPr/>
        </p:nvSpPr>
        <p:spPr>
          <a:xfrm>
            <a:off x="191385" y="2298493"/>
            <a:ext cx="5814245" cy="2031325"/>
          </a:xfrm>
          <a:prstGeom prst="rect">
            <a:avLst/>
          </a:prstGeom>
          <a:noFill/>
        </p:spPr>
        <p:txBody>
          <a:bodyPr wrap="square" rtlCol="0">
            <a:spAutoFit/>
          </a:bodyPr>
          <a:lstStyle/>
          <a:p>
            <a:r>
              <a:rPr lang="es-CO" sz="2000" b="1" dirty="0"/>
              <a:t>1. Transformación para las entidades y atributos:</a:t>
            </a:r>
          </a:p>
          <a:p>
            <a:endParaRPr lang="es-CO" sz="1600" b="1" dirty="0"/>
          </a:p>
          <a:p>
            <a:r>
              <a:rPr lang="es-CO" dirty="0"/>
              <a:t>• Entidades. Las entidades pasan a ser tablas</a:t>
            </a:r>
          </a:p>
          <a:p>
            <a:r>
              <a:rPr lang="es-CO" dirty="0"/>
              <a:t>• Atributos. Los atributos pasan a ser columnas o </a:t>
            </a:r>
            <a:r>
              <a:rPr lang="es-CO" sz="1600" dirty="0"/>
              <a:t>atributos</a:t>
            </a:r>
            <a:r>
              <a:rPr lang="es-CO" dirty="0"/>
              <a:t> de la tabla.</a:t>
            </a:r>
          </a:p>
          <a:p>
            <a:r>
              <a:rPr lang="es-CO" dirty="0"/>
              <a:t>• Identificadores principales. Pasan a ser claves primarias</a:t>
            </a:r>
          </a:p>
          <a:p>
            <a:r>
              <a:rPr lang="es-CO" dirty="0"/>
              <a:t>• Identificadores candidatos. Pasan a ser claves candidatas.</a:t>
            </a:r>
          </a:p>
        </p:txBody>
      </p:sp>
      <p:sp>
        <p:nvSpPr>
          <p:cNvPr id="8" name="CuadroTexto 3">
            <a:extLst>
              <a:ext uri="{FF2B5EF4-FFF2-40B4-BE49-F238E27FC236}">
                <a16:creationId xmlns:a16="http://schemas.microsoft.com/office/drawing/2014/main" id="{D02AE59A-3644-4B1E-9141-9920BE464F6B}"/>
              </a:ext>
            </a:extLst>
          </p:cNvPr>
          <p:cNvSpPr txBox="1"/>
          <p:nvPr/>
        </p:nvSpPr>
        <p:spPr>
          <a:xfrm>
            <a:off x="191385" y="1144170"/>
            <a:ext cx="8591107" cy="830997"/>
          </a:xfrm>
          <a:prstGeom prst="rect">
            <a:avLst/>
          </a:prstGeom>
          <a:noFill/>
        </p:spPr>
        <p:txBody>
          <a:bodyPr wrap="square" rtlCol="0">
            <a:spAutoFit/>
          </a:bodyPr>
          <a:lstStyle/>
          <a:p>
            <a:pPr algn="just"/>
            <a:r>
              <a:rPr lang="es-MX" sz="1600" b="0" i="0" u="none" strike="noStrike" baseline="0" dirty="0">
                <a:solidFill>
                  <a:srgbClr val="58595B"/>
                </a:solidFill>
                <a:latin typeface="Verdana" panose="020B0604030504040204" pitchFamily="34" charset="0"/>
              </a:rPr>
              <a:t>A continuación se explica detalladamente la transformación de un MER según las reglas para las entidades y se expresa en esquema relacional y modelo relacional.</a:t>
            </a:r>
            <a:endParaRPr lang="es-CO" sz="1600" dirty="0"/>
          </a:p>
        </p:txBody>
      </p:sp>
    </p:spTree>
    <p:extLst>
      <p:ext uri="{BB962C8B-B14F-4D97-AF65-F5344CB8AC3E}">
        <p14:creationId xmlns:p14="http://schemas.microsoft.com/office/powerpoint/2010/main" val="20549548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CBD8BEE-E57E-4178-AE31-E9FFC0BC0FCD}"/>
              </a:ext>
            </a:extLst>
          </p:cNvPr>
          <p:cNvPicPr>
            <a:picLocks noChangeAspect="1"/>
          </p:cNvPicPr>
          <p:nvPr/>
        </p:nvPicPr>
        <p:blipFill>
          <a:blip r:embed="rId3"/>
          <a:stretch>
            <a:fillRect/>
          </a:stretch>
        </p:blipFill>
        <p:spPr>
          <a:xfrm>
            <a:off x="5067340" y="2497470"/>
            <a:ext cx="3618353" cy="2352675"/>
          </a:xfrm>
          <a:prstGeom prst="rect">
            <a:avLst/>
          </a:prstGeom>
        </p:spPr>
      </p:pic>
      <p:pic>
        <p:nvPicPr>
          <p:cNvPr id="7" name="Imagen 4">
            <a:extLst>
              <a:ext uri="{FF2B5EF4-FFF2-40B4-BE49-F238E27FC236}">
                <a16:creationId xmlns:a16="http://schemas.microsoft.com/office/drawing/2014/main" id="{C273FA4B-D10D-4B4E-8127-BE485CB4B3E1}"/>
              </a:ext>
            </a:extLst>
          </p:cNvPr>
          <p:cNvPicPr>
            <a:picLocks noChangeAspect="1"/>
          </p:cNvPicPr>
          <p:nvPr/>
        </p:nvPicPr>
        <p:blipFill>
          <a:blip r:embed="rId4"/>
          <a:stretch>
            <a:fillRect/>
          </a:stretch>
        </p:blipFill>
        <p:spPr>
          <a:xfrm>
            <a:off x="0" y="1052624"/>
            <a:ext cx="4476211" cy="4090876"/>
          </a:xfrm>
          <a:prstGeom prst="rect">
            <a:avLst/>
          </a:prstGeom>
        </p:spPr>
      </p:pic>
      <p:pic>
        <p:nvPicPr>
          <p:cNvPr id="9" name="Picture 8">
            <a:extLst>
              <a:ext uri="{FF2B5EF4-FFF2-40B4-BE49-F238E27FC236}">
                <a16:creationId xmlns:a16="http://schemas.microsoft.com/office/drawing/2014/main" id="{19C57E14-9115-4F47-92DB-1767A99155BD}"/>
              </a:ext>
            </a:extLst>
          </p:cNvPr>
          <p:cNvPicPr>
            <a:picLocks noChangeAspect="1"/>
          </p:cNvPicPr>
          <p:nvPr/>
        </p:nvPicPr>
        <p:blipFill>
          <a:blip r:embed="rId5"/>
          <a:stretch>
            <a:fillRect/>
          </a:stretch>
        </p:blipFill>
        <p:spPr>
          <a:xfrm>
            <a:off x="5641125" y="1421218"/>
            <a:ext cx="1838325" cy="876300"/>
          </a:xfrm>
          <a:prstGeom prst="rect">
            <a:avLst/>
          </a:prstGeom>
        </p:spPr>
      </p:pic>
      <p:sp>
        <p:nvSpPr>
          <p:cNvPr id="10" name="CuadroTexto 1">
            <a:extLst>
              <a:ext uri="{FF2B5EF4-FFF2-40B4-BE49-F238E27FC236}">
                <a16:creationId xmlns:a16="http://schemas.microsoft.com/office/drawing/2014/main" id="{435212D3-28A9-4853-9B3D-7F286570A348}"/>
              </a:ext>
            </a:extLst>
          </p:cNvPr>
          <p:cNvSpPr txBox="1"/>
          <p:nvPr/>
        </p:nvSpPr>
        <p:spPr>
          <a:xfrm>
            <a:off x="518667" y="355820"/>
            <a:ext cx="7942425" cy="369332"/>
          </a:xfrm>
          <a:prstGeom prst="rect">
            <a:avLst/>
          </a:prstGeom>
          <a:noFill/>
        </p:spPr>
        <p:txBody>
          <a:bodyPr wrap="square" rtlCol="0">
            <a:spAutoFit/>
          </a:bodyPr>
          <a:lstStyle/>
          <a:p>
            <a:r>
              <a:rPr lang="es-MX" sz="1800" b="1" i="0" u="none" strike="noStrike" baseline="0" dirty="0">
                <a:solidFill>
                  <a:schemeClr val="bg1"/>
                </a:solidFill>
                <a:latin typeface="Verdana-Bold"/>
              </a:rPr>
              <a:t>TRANSFORMACIÓN MER A MODELO RELACIONAL</a:t>
            </a:r>
            <a:endParaRPr lang="es-ES" sz="3600" b="1" dirty="0">
              <a:solidFill>
                <a:schemeClr val="bg1"/>
              </a:solidFill>
            </a:endParaRPr>
          </a:p>
        </p:txBody>
      </p:sp>
    </p:spTree>
    <p:extLst>
      <p:ext uri="{BB962C8B-B14F-4D97-AF65-F5344CB8AC3E}">
        <p14:creationId xmlns:p14="http://schemas.microsoft.com/office/powerpoint/2010/main" val="1713063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adroTexto 1">
            <a:extLst>
              <a:ext uri="{FF2B5EF4-FFF2-40B4-BE49-F238E27FC236}">
                <a16:creationId xmlns:a16="http://schemas.microsoft.com/office/drawing/2014/main" id="{2F046BB7-3B69-4B0A-9599-A733A9EDC3DA}"/>
              </a:ext>
            </a:extLst>
          </p:cNvPr>
          <p:cNvSpPr txBox="1"/>
          <p:nvPr/>
        </p:nvSpPr>
        <p:spPr>
          <a:xfrm>
            <a:off x="114301" y="1091048"/>
            <a:ext cx="4486228" cy="369332"/>
          </a:xfrm>
          <a:prstGeom prst="rect">
            <a:avLst/>
          </a:prstGeom>
          <a:noFill/>
        </p:spPr>
        <p:txBody>
          <a:bodyPr wrap="none" rtlCol="0">
            <a:spAutoFit/>
          </a:bodyPr>
          <a:lstStyle/>
          <a:p>
            <a:r>
              <a:rPr lang="es-CO" b="1" dirty="0"/>
              <a:t>2. TRANSFORMACIÓN PARA LAS RELACIONES</a:t>
            </a:r>
          </a:p>
        </p:txBody>
      </p:sp>
      <p:sp>
        <p:nvSpPr>
          <p:cNvPr id="6" name="CuadroTexto 2">
            <a:extLst>
              <a:ext uri="{FF2B5EF4-FFF2-40B4-BE49-F238E27FC236}">
                <a16:creationId xmlns:a16="http://schemas.microsoft.com/office/drawing/2014/main" id="{CF4B5CDA-9FDB-4222-8191-D969CB99F60A}"/>
              </a:ext>
            </a:extLst>
          </p:cNvPr>
          <p:cNvSpPr txBox="1"/>
          <p:nvPr/>
        </p:nvSpPr>
        <p:spPr>
          <a:xfrm>
            <a:off x="77163" y="1475648"/>
            <a:ext cx="4255396" cy="954107"/>
          </a:xfrm>
          <a:prstGeom prst="rect">
            <a:avLst/>
          </a:prstGeom>
          <a:noFill/>
        </p:spPr>
        <p:txBody>
          <a:bodyPr wrap="square" rtlCol="0">
            <a:spAutoFit/>
          </a:bodyPr>
          <a:lstStyle>
            <a:defPPr>
              <a:defRPr lang="es-ES"/>
            </a:defPPr>
            <a:lvl1pPr>
              <a:defRPr sz="1400" b="0" i="0" u="none" strike="noStrike" baseline="0">
                <a:solidFill>
                  <a:srgbClr val="58595B"/>
                </a:solidFill>
                <a:latin typeface="Verdana" panose="020B0604030504040204" pitchFamily="34" charset="0"/>
              </a:defRPr>
            </a:lvl1pPr>
          </a:lstStyle>
          <a:p>
            <a:pPr marL="342900" indent="-342900" algn="just">
              <a:buAutoNum type="alphaLcParenR"/>
            </a:pPr>
            <a:r>
              <a:rPr lang="es-CO" b="1" dirty="0">
                <a:solidFill>
                  <a:schemeClr val="tx1"/>
                </a:solidFill>
              </a:rPr>
              <a:t>Relación Muchos a Muchos (M..M): </a:t>
            </a:r>
          </a:p>
          <a:p>
            <a:pPr algn="just"/>
            <a:r>
              <a:rPr lang="es-CO" dirty="0"/>
              <a:t>Esta relación se distingue en un MER porque su cardinalidad entre las dos </a:t>
            </a:r>
            <a:r>
              <a:rPr lang="pt-BR" dirty="0"/>
              <a:t>entidades esta designada por (M..M) o (N..M).</a:t>
            </a:r>
            <a:r>
              <a:rPr lang="es-CO" dirty="0"/>
              <a:t> </a:t>
            </a:r>
          </a:p>
        </p:txBody>
      </p:sp>
      <p:pic>
        <p:nvPicPr>
          <p:cNvPr id="7" name="Imagen 3">
            <a:extLst>
              <a:ext uri="{FF2B5EF4-FFF2-40B4-BE49-F238E27FC236}">
                <a16:creationId xmlns:a16="http://schemas.microsoft.com/office/drawing/2014/main" id="{4C0FD136-0E23-47DE-95E5-659F5DFBD8F8}"/>
              </a:ext>
            </a:extLst>
          </p:cNvPr>
          <p:cNvPicPr>
            <a:picLocks noChangeAspect="1"/>
          </p:cNvPicPr>
          <p:nvPr/>
        </p:nvPicPr>
        <p:blipFill>
          <a:blip r:embed="rId3"/>
          <a:stretch>
            <a:fillRect/>
          </a:stretch>
        </p:blipFill>
        <p:spPr>
          <a:xfrm>
            <a:off x="4969251" y="1510658"/>
            <a:ext cx="3631158" cy="1200329"/>
          </a:xfrm>
          <a:prstGeom prst="rect">
            <a:avLst/>
          </a:prstGeom>
        </p:spPr>
      </p:pic>
      <p:sp>
        <p:nvSpPr>
          <p:cNvPr id="8" name="CuadroTexto 5">
            <a:extLst>
              <a:ext uri="{FF2B5EF4-FFF2-40B4-BE49-F238E27FC236}">
                <a16:creationId xmlns:a16="http://schemas.microsoft.com/office/drawing/2014/main" id="{45E2A009-CDAD-413D-93B7-E84FA9071AE1}"/>
              </a:ext>
            </a:extLst>
          </p:cNvPr>
          <p:cNvSpPr txBox="1"/>
          <p:nvPr/>
        </p:nvSpPr>
        <p:spPr>
          <a:xfrm>
            <a:off x="114302" y="2837227"/>
            <a:ext cx="4218258" cy="1169551"/>
          </a:xfrm>
          <a:prstGeom prst="rect">
            <a:avLst/>
          </a:prstGeom>
          <a:noFill/>
        </p:spPr>
        <p:txBody>
          <a:bodyPr wrap="square" rtlCol="0">
            <a:spAutoFit/>
          </a:bodyPr>
          <a:lstStyle/>
          <a:p>
            <a:pPr algn="just"/>
            <a:r>
              <a:rPr lang="es-MX" sz="1400" b="0" i="0" u="none" strike="noStrike" baseline="0" dirty="0">
                <a:solidFill>
                  <a:srgbClr val="58595B"/>
                </a:solidFill>
                <a:latin typeface="Verdana" panose="020B0604030504040204" pitchFamily="34" charset="0"/>
              </a:rPr>
              <a:t>Cuando se tiene una relación de este tipo, la relación se transforma en una tabla y  las llaves primarias de las tablas relacionadas pasan  a hacer atributos (Llaves Foráneas) de la nueva tabla.</a:t>
            </a:r>
          </a:p>
        </p:txBody>
      </p:sp>
      <p:sp>
        <p:nvSpPr>
          <p:cNvPr id="11" name="CuadroTexto 9">
            <a:extLst>
              <a:ext uri="{FF2B5EF4-FFF2-40B4-BE49-F238E27FC236}">
                <a16:creationId xmlns:a16="http://schemas.microsoft.com/office/drawing/2014/main" id="{002D9B82-17FF-4072-BD6A-C1862740FF1D}"/>
              </a:ext>
            </a:extLst>
          </p:cNvPr>
          <p:cNvSpPr txBox="1"/>
          <p:nvPr/>
        </p:nvSpPr>
        <p:spPr>
          <a:xfrm>
            <a:off x="6003048" y="1141326"/>
            <a:ext cx="619080" cy="369332"/>
          </a:xfrm>
          <a:prstGeom prst="rect">
            <a:avLst/>
          </a:prstGeom>
          <a:noFill/>
        </p:spPr>
        <p:txBody>
          <a:bodyPr wrap="none" rtlCol="0">
            <a:spAutoFit/>
          </a:bodyPr>
          <a:lstStyle/>
          <a:p>
            <a:r>
              <a:rPr lang="es-CO" dirty="0"/>
              <a:t>MER</a:t>
            </a:r>
          </a:p>
        </p:txBody>
      </p:sp>
      <p:sp>
        <p:nvSpPr>
          <p:cNvPr id="13" name="CuadroTexto 12">
            <a:extLst>
              <a:ext uri="{FF2B5EF4-FFF2-40B4-BE49-F238E27FC236}">
                <a16:creationId xmlns:a16="http://schemas.microsoft.com/office/drawing/2014/main" id="{02FD54D8-928E-42D9-9C20-5235F7788D96}"/>
              </a:ext>
            </a:extLst>
          </p:cNvPr>
          <p:cNvSpPr txBox="1"/>
          <p:nvPr/>
        </p:nvSpPr>
        <p:spPr>
          <a:xfrm>
            <a:off x="4811442" y="2853840"/>
            <a:ext cx="2855230" cy="369332"/>
          </a:xfrm>
          <a:prstGeom prst="rect">
            <a:avLst/>
          </a:prstGeom>
          <a:noFill/>
        </p:spPr>
        <p:txBody>
          <a:bodyPr wrap="square" rtlCol="0">
            <a:spAutoFit/>
          </a:bodyPr>
          <a:lstStyle/>
          <a:p>
            <a:r>
              <a:rPr lang="es-CO" dirty="0"/>
              <a:t>Modelo Relación</a:t>
            </a:r>
          </a:p>
        </p:txBody>
      </p:sp>
      <p:pic>
        <p:nvPicPr>
          <p:cNvPr id="15" name="Picture 14">
            <a:extLst>
              <a:ext uri="{FF2B5EF4-FFF2-40B4-BE49-F238E27FC236}">
                <a16:creationId xmlns:a16="http://schemas.microsoft.com/office/drawing/2014/main" id="{2FF8432B-A9B4-4B0A-96B1-08D747F9C86F}"/>
              </a:ext>
            </a:extLst>
          </p:cNvPr>
          <p:cNvPicPr>
            <a:picLocks noChangeAspect="1"/>
          </p:cNvPicPr>
          <p:nvPr/>
        </p:nvPicPr>
        <p:blipFill>
          <a:blip r:embed="rId4"/>
          <a:stretch>
            <a:fillRect/>
          </a:stretch>
        </p:blipFill>
        <p:spPr>
          <a:xfrm>
            <a:off x="4846776" y="3366025"/>
            <a:ext cx="3876107" cy="1372854"/>
          </a:xfrm>
          <a:prstGeom prst="rect">
            <a:avLst/>
          </a:prstGeom>
        </p:spPr>
      </p:pic>
      <p:sp>
        <p:nvSpPr>
          <p:cNvPr id="16" name="CuadroTexto 1">
            <a:extLst>
              <a:ext uri="{FF2B5EF4-FFF2-40B4-BE49-F238E27FC236}">
                <a16:creationId xmlns:a16="http://schemas.microsoft.com/office/drawing/2014/main" id="{33759850-88C3-4078-9DB0-9BC6619FDFF5}"/>
              </a:ext>
            </a:extLst>
          </p:cNvPr>
          <p:cNvSpPr txBox="1"/>
          <p:nvPr/>
        </p:nvSpPr>
        <p:spPr>
          <a:xfrm>
            <a:off x="518667" y="355820"/>
            <a:ext cx="7942425" cy="369332"/>
          </a:xfrm>
          <a:prstGeom prst="rect">
            <a:avLst/>
          </a:prstGeom>
          <a:noFill/>
        </p:spPr>
        <p:txBody>
          <a:bodyPr wrap="square" rtlCol="0">
            <a:spAutoFit/>
          </a:bodyPr>
          <a:lstStyle/>
          <a:p>
            <a:r>
              <a:rPr lang="es-MX" sz="1800" b="1" i="0" u="none" strike="noStrike" baseline="0" dirty="0">
                <a:solidFill>
                  <a:schemeClr val="bg1"/>
                </a:solidFill>
                <a:latin typeface="Verdana-Bold"/>
              </a:rPr>
              <a:t>TRANSFORMACIÓN MER A MODELO RELACIONAL</a:t>
            </a:r>
            <a:endParaRPr lang="es-ES" sz="3600" b="1" dirty="0">
              <a:solidFill>
                <a:schemeClr val="bg1"/>
              </a:solidFill>
            </a:endParaRPr>
          </a:p>
        </p:txBody>
      </p:sp>
      <p:sp>
        <p:nvSpPr>
          <p:cNvPr id="17" name="Arrow: Down 16">
            <a:extLst>
              <a:ext uri="{FF2B5EF4-FFF2-40B4-BE49-F238E27FC236}">
                <a16:creationId xmlns:a16="http://schemas.microsoft.com/office/drawing/2014/main" id="{6F72173E-B7E2-48D1-A007-9B781CF61F94}"/>
              </a:ext>
            </a:extLst>
          </p:cNvPr>
          <p:cNvSpPr/>
          <p:nvPr/>
        </p:nvSpPr>
        <p:spPr>
          <a:xfrm>
            <a:off x="7878726" y="2571750"/>
            <a:ext cx="276446" cy="651422"/>
          </a:xfrm>
          <a:prstGeom prst="down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s-MX"/>
          </a:p>
        </p:txBody>
      </p:sp>
    </p:spTree>
    <p:extLst>
      <p:ext uri="{BB962C8B-B14F-4D97-AF65-F5344CB8AC3E}">
        <p14:creationId xmlns:p14="http://schemas.microsoft.com/office/powerpoint/2010/main" val="34862788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CuadroTexto 1">
            <a:extLst>
              <a:ext uri="{FF2B5EF4-FFF2-40B4-BE49-F238E27FC236}">
                <a16:creationId xmlns:a16="http://schemas.microsoft.com/office/drawing/2014/main" id="{33759850-88C3-4078-9DB0-9BC6619FDFF5}"/>
              </a:ext>
            </a:extLst>
          </p:cNvPr>
          <p:cNvSpPr txBox="1"/>
          <p:nvPr/>
        </p:nvSpPr>
        <p:spPr>
          <a:xfrm>
            <a:off x="518667" y="355820"/>
            <a:ext cx="7942425" cy="369332"/>
          </a:xfrm>
          <a:prstGeom prst="rect">
            <a:avLst/>
          </a:prstGeom>
          <a:noFill/>
        </p:spPr>
        <p:txBody>
          <a:bodyPr wrap="square" rtlCol="0">
            <a:spAutoFit/>
          </a:bodyPr>
          <a:lstStyle/>
          <a:p>
            <a:r>
              <a:rPr lang="es-MX" sz="1800" b="1" i="0" u="none" strike="noStrike" baseline="0" dirty="0">
                <a:solidFill>
                  <a:schemeClr val="bg1"/>
                </a:solidFill>
                <a:latin typeface="Verdana-Bold"/>
              </a:rPr>
              <a:t>TRANSFORMACIÓN MER A MODELO RELACIONAL</a:t>
            </a:r>
            <a:endParaRPr lang="es-ES" sz="3600" b="1" dirty="0">
              <a:solidFill>
                <a:schemeClr val="bg1"/>
              </a:solidFill>
            </a:endParaRPr>
          </a:p>
        </p:txBody>
      </p:sp>
      <p:pic>
        <p:nvPicPr>
          <p:cNvPr id="10" name="Picture 9">
            <a:extLst>
              <a:ext uri="{FF2B5EF4-FFF2-40B4-BE49-F238E27FC236}">
                <a16:creationId xmlns:a16="http://schemas.microsoft.com/office/drawing/2014/main" id="{D28FC49E-125B-4F97-8E7F-79ED29673E60}"/>
              </a:ext>
            </a:extLst>
          </p:cNvPr>
          <p:cNvPicPr>
            <a:picLocks noChangeAspect="1"/>
          </p:cNvPicPr>
          <p:nvPr/>
        </p:nvPicPr>
        <p:blipFill>
          <a:blip r:embed="rId3"/>
          <a:stretch>
            <a:fillRect/>
          </a:stretch>
        </p:blipFill>
        <p:spPr>
          <a:xfrm>
            <a:off x="776554" y="1198889"/>
            <a:ext cx="7590891" cy="1553893"/>
          </a:xfrm>
          <a:prstGeom prst="rect">
            <a:avLst/>
          </a:prstGeom>
        </p:spPr>
      </p:pic>
      <p:pic>
        <p:nvPicPr>
          <p:cNvPr id="3" name="Picture 2">
            <a:extLst>
              <a:ext uri="{FF2B5EF4-FFF2-40B4-BE49-F238E27FC236}">
                <a16:creationId xmlns:a16="http://schemas.microsoft.com/office/drawing/2014/main" id="{F54E3B0F-657A-420D-AC5A-15D51ECBEA74}"/>
              </a:ext>
            </a:extLst>
          </p:cNvPr>
          <p:cNvPicPr>
            <a:picLocks noChangeAspect="1"/>
          </p:cNvPicPr>
          <p:nvPr/>
        </p:nvPicPr>
        <p:blipFill>
          <a:blip r:embed="rId4"/>
          <a:stretch>
            <a:fillRect/>
          </a:stretch>
        </p:blipFill>
        <p:spPr>
          <a:xfrm>
            <a:off x="127033" y="3190149"/>
            <a:ext cx="2762173" cy="1614181"/>
          </a:xfrm>
          <a:prstGeom prst="rect">
            <a:avLst/>
          </a:prstGeom>
        </p:spPr>
      </p:pic>
      <p:pic>
        <p:nvPicPr>
          <p:cNvPr id="9" name="Picture 8">
            <a:extLst>
              <a:ext uri="{FF2B5EF4-FFF2-40B4-BE49-F238E27FC236}">
                <a16:creationId xmlns:a16="http://schemas.microsoft.com/office/drawing/2014/main" id="{A6742CCB-4D3C-4517-8600-16376DA2C671}"/>
              </a:ext>
            </a:extLst>
          </p:cNvPr>
          <p:cNvPicPr>
            <a:picLocks noChangeAspect="1"/>
          </p:cNvPicPr>
          <p:nvPr/>
        </p:nvPicPr>
        <p:blipFill>
          <a:blip r:embed="rId5"/>
          <a:stretch>
            <a:fillRect/>
          </a:stretch>
        </p:blipFill>
        <p:spPr>
          <a:xfrm>
            <a:off x="4032865" y="3181550"/>
            <a:ext cx="2295525" cy="1919228"/>
          </a:xfrm>
          <a:prstGeom prst="rect">
            <a:avLst/>
          </a:prstGeom>
        </p:spPr>
      </p:pic>
      <p:pic>
        <p:nvPicPr>
          <p:cNvPr id="14" name="Picture 13">
            <a:extLst>
              <a:ext uri="{FF2B5EF4-FFF2-40B4-BE49-F238E27FC236}">
                <a16:creationId xmlns:a16="http://schemas.microsoft.com/office/drawing/2014/main" id="{0DCBA96A-0BE4-437B-838B-4B1DB509998B}"/>
              </a:ext>
            </a:extLst>
          </p:cNvPr>
          <p:cNvPicPr>
            <a:picLocks noChangeAspect="1"/>
          </p:cNvPicPr>
          <p:nvPr/>
        </p:nvPicPr>
        <p:blipFill rotWithShape="1">
          <a:blip r:embed="rId6"/>
          <a:srcRect b="46842"/>
          <a:stretch/>
        </p:blipFill>
        <p:spPr>
          <a:xfrm>
            <a:off x="7165085" y="3421476"/>
            <a:ext cx="2009775" cy="1151526"/>
          </a:xfrm>
          <a:prstGeom prst="rect">
            <a:avLst/>
          </a:prstGeom>
        </p:spPr>
      </p:pic>
      <p:cxnSp>
        <p:nvCxnSpPr>
          <p:cNvPr id="18" name="Straight Connector 17">
            <a:extLst>
              <a:ext uri="{FF2B5EF4-FFF2-40B4-BE49-F238E27FC236}">
                <a16:creationId xmlns:a16="http://schemas.microsoft.com/office/drawing/2014/main" id="{46F199D6-98B0-4540-9D68-573AC840F394}"/>
              </a:ext>
            </a:extLst>
          </p:cNvPr>
          <p:cNvCxnSpPr>
            <a:cxnSpLocks/>
            <a:stCxn id="3" idx="3"/>
          </p:cNvCxnSpPr>
          <p:nvPr/>
        </p:nvCxnSpPr>
        <p:spPr>
          <a:xfrm>
            <a:off x="2889206" y="3997240"/>
            <a:ext cx="1160176"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20" name="Connector: Elbow 19">
            <a:extLst>
              <a:ext uri="{FF2B5EF4-FFF2-40B4-BE49-F238E27FC236}">
                <a16:creationId xmlns:a16="http://schemas.microsoft.com/office/drawing/2014/main" id="{32A26FDA-C6C4-4792-A1EC-1A57A29FFF92}"/>
              </a:ext>
            </a:extLst>
          </p:cNvPr>
          <p:cNvCxnSpPr>
            <a:cxnSpLocks/>
            <a:stCxn id="9" idx="3"/>
            <a:endCxn id="14" idx="2"/>
          </p:cNvCxnSpPr>
          <p:nvPr/>
        </p:nvCxnSpPr>
        <p:spPr>
          <a:xfrm>
            <a:off x="6328390" y="4141164"/>
            <a:ext cx="1841583" cy="431838"/>
          </a:xfrm>
          <a:prstGeom prst="bentConnector4">
            <a:avLst>
              <a:gd name="adj1" fmla="val 22717"/>
              <a:gd name="adj2" fmla="val 152937"/>
            </a:avLst>
          </a:prstGeom>
        </p:spPr>
        <p:style>
          <a:lnRef idx="2">
            <a:schemeClr val="accent1"/>
          </a:lnRef>
          <a:fillRef idx="0">
            <a:schemeClr val="accent1"/>
          </a:fillRef>
          <a:effectRef idx="1">
            <a:schemeClr val="accent1"/>
          </a:effectRef>
          <a:fontRef idx="minor">
            <a:schemeClr val="tx1"/>
          </a:fontRef>
        </p:style>
      </p:cxnSp>
      <p:sp>
        <p:nvSpPr>
          <p:cNvPr id="21" name="TextBox 20">
            <a:extLst>
              <a:ext uri="{FF2B5EF4-FFF2-40B4-BE49-F238E27FC236}">
                <a16:creationId xmlns:a16="http://schemas.microsoft.com/office/drawing/2014/main" id="{7D9E4050-5583-4960-93D0-D47F299B0A92}"/>
              </a:ext>
            </a:extLst>
          </p:cNvPr>
          <p:cNvSpPr txBox="1"/>
          <p:nvPr/>
        </p:nvSpPr>
        <p:spPr>
          <a:xfrm>
            <a:off x="2919177" y="3627907"/>
            <a:ext cx="301686" cy="369332"/>
          </a:xfrm>
          <a:prstGeom prst="rect">
            <a:avLst/>
          </a:prstGeom>
          <a:noFill/>
        </p:spPr>
        <p:txBody>
          <a:bodyPr wrap="none" rtlCol="0">
            <a:spAutoFit/>
          </a:bodyPr>
          <a:lstStyle/>
          <a:p>
            <a:r>
              <a:rPr lang="es-MX" dirty="0"/>
              <a:t>1</a:t>
            </a:r>
          </a:p>
        </p:txBody>
      </p:sp>
      <p:sp>
        <p:nvSpPr>
          <p:cNvPr id="22" name="TextBox 21">
            <a:extLst>
              <a:ext uri="{FF2B5EF4-FFF2-40B4-BE49-F238E27FC236}">
                <a16:creationId xmlns:a16="http://schemas.microsoft.com/office/drawing/2014/main" id="{6620C036-BA6F-420D-8D10-22F614C6F29A}"/>
              </a:ext>
            </a:extLst>
          </p:cNvPr>
          <p:cNvSpPr txBox="1"/>
          <p:nvPr/>
        </p:nvSpPr>
        <p:spPr>
          <a:xfrm>
            <a:off x="3626511" y="3627908"/>
            <a:ext cx="306494" cy="369332"/>
          </a:xfrm>
          <a:prstGeom prst="rect">
            <a:avLst/>
          </a:prstGeom>
          <a:noFill/>
        </p:spPr>
        <p:txBody>
          <a:bodyPr wrap="none" rtlCol="0">
            <a:spAutoFit/>
          </a:bodyPr>
          <a:lstStyle/>
          <a:p>
            <a:r>
              <a:rPr lang="es-MX" dirty="0"/>
              <a:t>n</a:t>
            </a:r>
          </a:p>
        </p:txBody>
      </p:sp>
      <p:sp>
        <p:nvSpPr>
          <p:cNvPr id="23" name="TextBox 22">
            <a:extLst>
              <a:ext uri="{FF2B5EF4-FFF2-40B4-BE49-F238E27FC236}">
                <a16:creationId xmlns:a16="http://schemas.microsoft.com/office/drawing/2014/main" id="{66A13236-D263-4DF1-AC5E-FD009729BFBA}"/>
              </a:ext>
            </a:extLst>
          </p:cNvPr>
          <p:cNvSpPr txBox="1"/>
          <p:nvPr/>
        </p:nvSpPr>
        <p:spPr>
          <a:xfrm>
            <a:off x="7680966" y="4447772"/>
            <a:ext cx="301686" cy="369332"/>
          </a:xfrm>
          <a:prstGeom prst="rect">
            <a:avLst/>
          </a:prstGeom>
          <a:noFill/>
        </p:spPr>
        <p:txBody>
          <a:bodyPr wrap="none" rtlCol="0">
            <a:spAutoFit/>
          </a:bodyPr>
          <a:lstStyle/>
          <a:p>
            <a:r>
              <a:rPr lang="es-MX" dirty="0"/>
              <a:t>1</a:t>
            </a:r>
          </a:p>
        </p:txBody>
      </p:sp>
      <p:sp>
        <p:nvSpPr>
          <p:cNvPr id="24" name="TextBox 23">
            <a:extLst>
              <a:ext uri="{FF2B5EF4-FFF2-40B4-BE49-F238E27FC236}">
                <a16:creationId xmlns:a16="http://schemas.microsoft.com/office/drawing/2014/main" id="{DDB881C6-854E-4DA9-90B7-1EECE128B93D}"/>
              </a:ext>
            </a:extLst>
          </p:cNvPr>
          <p:cNvSpPr txBox="1"/>
          <p:nvPr/>
        </p:nvSpPr>
        <p:spPr>
          <a:xfrm>
            <a:off x="6440243" y="3712396"/>
            <a:ext cx="306494" cy="369332"/>
          </a:xfrm>
          <a:prstGeom prst="rect">
            <a:avLst/>
          </a:prstGeom>
          <a:noFill/>
        </p:spPr>
        <p:txBody>
          <a:bodyPr wrap="none" rtlCol="0">
            <a:spAutoFit/>
          </a:bodyPr>
          <a:lstStyle/>
          <a:p>
            <a:r>
              <a:rPr lang="es-MX" dirty="0"/>
              <a:t>n</a:t>
            </a:r>
          </a:p>
        </p:txBody>
      </p:sp>
    </p:spTree>
    <p:extLst>
      <p:ext uri="{BB962C8B-B14F-4D97-AF65-F5344CB8AC3E}">
        <p14:creationId xmlns:p14="http://schemas.microsoft.com/office/powerpoint/2010/main" val="39934095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2">
            <a:extLst>
              <a:ext uri="{FF2B5EF4-FFF2-40B4-BE49-F238E27FC236}">
                <a16:creationId xmlns:a16="http://schemas.microsoft.com/office/drawing/2014/main" id="{B2B658A0-F1D7-4493-8EB6-0FA7C0956201}"/>
              </a:ext>
            </a:extLst>
          </p:cNvPr>
          <p:cNvSpPr txBox="1"/>
          <p:nvPr/>
        </p:nvSpPr>
        <p:spPr>
          <a:xfrm>
            <a:off x="131795" y="1255393"/>
            <a:ext cx="2675963" cy="400110"/>
          </a:xfrm>
          <a:prstGeom prst="rect">
            <a:avLst/>
          </a:prstGeom>
          <a:noFill/>
        </p:spPr>
        <p:txBody>
          <a:bodyPr wrap="square" rtlCol="0">
            <a:spAutoFit/>
          </a:bodyPr>
          <a:lstStyle/>
          <a:p>
            <a:r>
              <a:rPr lang="es-CO" sz="1600" b="1" dirty="0"/>
              <a:t>b) </a:t>
            </a:r>
            <a:r>
              <a:rPr lang="es-CO" sz="2000" b="1" dirty="0"/>
              <a:t>Relación 1 a 1 (1..1):</a:t>
            </a:r>
            <a:endParaRPr lang="es-CO" sz="2000" dirty="0"/>
          </a:p>
        </p:txBody>
      </p:sp>
      <p:sp>
        <p:nvSpPr>
          <p:cNvPr id="5" name="CuadroTexto 4">
            <a:extLst>
              <a:ext uri="{FF2B5EF4-FFF2-40B4-BE49-F238E27FC236}">
                <a16:creationId xmlns:a16="http://schemas.microsoft.com/office/drawing/2014/main" id="{51BD4477-8105-47AA-AACD-966F17333ABB}"/>
              </a:ext>
            </a:extLst>
          </p:cNvPr>
          <p:cNvSpPr txBox="1"/>
          <p:nvPr/>
        </p:nvSpPr>
        <p:spPr>
          <a:xfrm>
            <a:off x="66255" y="1954351"/>
            <a:ext cx="4212990" cy="830997"/>
          </a:xfrm>
          <a:prstGeom prst="rect">
            <a:avLst/>
          </a:prstGeom>
          <a:noFill/>
        </p:spPr>
        <p:txBody>
          <a:bodyPr wrap="square" rtlCol="0">
            <a:spAutoFit/>
          </a:bodyPr>
          <a:lstStyle/>
          <a:p>
            <a:pPr algn="just"/>
            <a:r>
              <a:rPr lang="es-CO" sz="1600" dirty="0"/>
              <a:t>Esta relación se distingue en un MER porque su cardinalidades entre las dos entidades esta designada por (1..1).</a:t>
            </a:r>
          </a:p>
        </p:txBody>
      </p:sp>
      <p:pic>
        <p:nvPicPr>
          <p:cNvPr id="6" name="Imagen 13">
            <a:extLst>
              <a:ext uri="{FF2B5EF4-FFF2-40B4-BE49-F238E27FC236}">
                <a16:creationId xmlns:a16="http://schemas.microsoft.com/office/drawing/2014/main" id="{CAC23784-3C6C-4BC5-9039-E415E640BE06}"/>
              </a:ext>
            </a:extLst>
          </p:cNvPr>
          <p:cNvPicPr>
            <a:picLocks noChangeAspect="1"/>
          </p:cNvPicPr>
          <p:nvPr/>
        </p:nvPicPr>
        <p:blipFill>
          <a:blip r:embed="rId3"/>
          <a:stretch>
            <a:fillRect/>
          </a:stretch>
        </p:blipFill>
        <p:spPr>
          <a:xfrm>
            <a:off x="4303480" y="1372638"/>
            <a:ext cx="4301998" cy="1632285"/>
          </a:xfrm>
          <a:prstGeom prst="rect">
            <a:avLst/>
          </a:prstGeom>
        </p:spPr>
      </p:pic>
      <p:sp>
        <p:nvSpPr>
          <p:cNvPr id="7" name="CuadroTexto 14">
            <a:extLst>
              <a:ext uri="{FF2B5EF4-FFF2-40B4-BE49-F238E27FC236}">
                <a16:creationId xmlns:a16="http://schemas.microsoft.com/office/drawing/2014/main" id="{A9AF0B6C-3886-4C1F-8EAA-FC88919A27D8}"/>
              </a:ext>
            </a:extLst>
          </p:cNvPr>
          <p:cNvSpPr txBox="1"/>
          <p:nvPr/>
        </p:nvSpPr>
        <p:spPr>
          <a:xfrm>
            <a:off x="66254" y="3004923"/>
            <a:ext cx="4016648" cy="830997"/>
          </a:xfrm>
          <a:prstGeom prst="rect">
            <a:avLst/>
          </a:prstGeom>
          <a:noFill/>
        </p:spPr>
        <p:txBody>
          <a:bodyPr wrap="square" rtlCol="0">
            <a:spAutoFit/>
          </a:bodyPr>
          <a:lstStyle/>
          <a:p>
            <a:pPr algn="just"/>
            <a:r>
              <a:rPr lang="es-CO" sz="1600" b="1" i="1" dirty="0"/>
              <a:t>Cuando se tiene una relación de este tipo, la llave primaria de la tabla fuerte pasa a ser llave foránea en la tabla débil.</a:t>
            </a:r>
          </a:p>
        </p:txBody>
      </p:sp>
      <p:sp>
        <p:nvSpPr>
          <p:cNvPr id="13" name="CuadroTexto 1">
            <a:extLst>
              <a:ext uri="{FF2B5EF4-FFF2-40B4-BE49-F238E27FC236}">
                <a16:creationId xmlns:a16="http://schemas.microsoft.com/office/drawing/2014/main" id="{4685FC71-CD0E-4943-AFDE-5C3C00ACB878}"/>
              </a:ext>
            </a:extLst>
          </p:cNvPr>
          <p:cNvSpPr txBox="1"/>
          <p:nvPr/>
        </p:nvSpPr>
        <p:spPr>
          <a:xfrm>
            <a:off x="518667" y="355820"/>
            <a:ext cx="7942425" cy="369332"/>
          </a:xfrm>
          <a:prstGeom prst="rect">
            <a:avLst/>
          </a:prstGeom>
          <a:noFill/>
        </p:spPr>
        <p:txBody>
          <a:bodyPr wrap="square" rtlCol="0">
            <a:spAutoFit/>
          </a:bodyPr>
          <a:lstStyle/>
          <a:p>
            <a:r>
              <a:rPr lang="es-MX" sz="1800" b="1" i="0" u="none" strike="noStrike" baseline="0" dirty="0">
                <a:solidFill>
                  <a:schemeClr val="bg1"/>
                </a:solidFill>
                <a:latin typeface="Verdana-Bold"/>
              </a:rPr>
              <a:t>TRANSFORMACIÓN MER A MODELO RELACIONAL</a:t>
            </a:r>
            <a:endParaRPr lang="es-ES" sz="3600" b="1" dirty="0">
              <a:solidFill>
                <a:schemeClr val="bg1"/>
              </a:solidFill>
            </a:endParaRPr>
          </a:p>
        </p:txBody>
      </p:sp>
      <p:sp>
        <p:nvSpPr>
          <p:cNvPr id="11" name="Arrow: Down 10">
            <a:extLst>
              <a:ext uri="{FF2B5EF4-FFF2-40B4-BE49-F238E27FC236}">
                <a16:creationId xmlns:a16="http://schemas.microsoft.com/office/drawing/2014/main" id="{713FAF46-25EE-4AC7-AA1D-BF789090D80A}"/>
              </a:ext>
            </a:extLst>
          </p:cNvPr>
          <p:cNvSpPr/>
          <p:nvPr/>
        </p:nvSpPr>
        <p:spPr>
          <a:xfrm>
            <a:off x="7421526" y="2571750"/>
            <a:ext cx="340241" cy="830997"/>
          </a:xfrm>
          <a:prstGeom prst="down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s-MX"/>
          </a:p>
        </p:txBody>
      </p:sp>
      <p:sp>
        <p:nvSpPr>
          <p:cNvPr id="14" name="CuadroTexto 12">
            <a:extLst>
              <a:ext uri="{FF2B5EF4-FFF2-40B4-BE49-F238E27FC236}">
                <a16:creationId xmlns:a16="http://schemas.microsoft.com/office/drawing/2014/main" id="{08971BC7-FA56-46E8-BC5E-9BD2973D50D1}"/>
              </a:ext>
            </a:extLst>
          </p:cNvPr>
          <p:cNvSpPr txBox="1"/>
          <p:nvPr/>
        </p:nvSpPr>
        <p:spPr>
          <a:xfrm>
            <a:off x="4345718" y="3137682"/>
            <a:ext cx="2855230" cy="369332"/>
          </a:xfrm>
          <a:prstGeom prst="rect">
            <a:avLst/>
          </a:prstGeom>
          <a:noFill/>
        </p:spPr>
        <p:txBody>
          <a:bodyPr wrap="square" rtlCol="0">
            <a:spAutoFit/>
          </a:bodyPr>
          <a:lstStyle/>
          <a:p>
            <a:r>
              <a:rPr lang="es-CO" dirty="0"/>
              <a:t>Modelo Relación</a:t>
            </a:r>
          </a:p>
        </p:txBody>
      </p:sp>
      <p:sp>
        <p:nvSpPr>
          <p:cNvPr id="16" name="CuadroTexto 9">
            <a:extLst>
              <a:ext uri="{FF2B5EF4-FFF2-40B4-BE49-F238E27FC236}">
                <a16:creationId xmlns:a16="http://schemas.microsoft.com/office/drawing/2014/main" id="{BE3C722F-B45C-47B6-83CA-5DDCAC558E9B}"/>
              </a:ext>
            </a:extLst>
          </p:cNvPr>
          <p:cNvSpPr txBox="1"/>
          <p:nvPr/>
        </p:nvSpPr>
        <p:spPr>
          <a:xfrm>
            <a:off x="4345718" y="1098681"/>
            <a:ext cx="619080" cy="369332"/>
          </a:xfrm>
          <a:prstGeom prst="rect">
            <a:avLst/>
          </a:prstGeom>
          <a:noFill/>
        </p:spPr>
        <p:txBody>
          <a:bodyPr wrap="none" rtlCol="0">
            <a:spAutoFit/>
          </a:bodyPr>
          <a:lstStyle/>
          <a:p>
            <a:r>
              <a:rPr lang="es-CO" dirty="0"/>
              <a:t>MER</a:t>
            </a:r>
          </a:p>
        </p:txBody>
      </p:sp>
      <p:pic>
        <p:nvPicPr>
          <p:cNvPr id="3" name="Picture 2">
            <a:extLst>
              <a:ext uri="{FF2B5EF4-FFF2-40B4-BE49-F238E27FC236}">
                <a16:creationId xmlns:a16="http://schemas.microsoft.com/office/drawing/2014/main" id="{2919E368-885D-4122-B1DC-62978392979F}"/>
              </a:ext>
            </a:extLst>
          </p:cNvPr>
          <p:cNvPicPr>
            <a:picLocks noChangeAspect="1"/>
          </p:cNvPicPr>
          <p:nvPr/>
        </p:nvPicPr>
        <p:blipFill>
          <a:blip r:embed="rId4"/>
          <a:stretch>
            <a:fillRect/>
          </a:stretch>
        </p:blipFill>
        <p:spPr>
          <a:xfrm>
            <a:off x="3845442" y="3639773"/>
            <a:ext cx="4876800" cy="1438275"/>
          </a:xfrm>
          <a:prstGeom prst="rect">
            <a:avLst/>
          </a:prstGeom>
        </p:spPr>
      </p:pic>
    </p:spTree>
    <p:extLst>
      <p:ext uri="{BB962C8B-B14F-4D97-AF65-F5344CB8AC3E}">
        <p14:creationId xmlns:p14="http://schemas.microsoft.com/office/powerpoint/2010/main" val="31054833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2">
            <a:extLst>
              <a:ext uri="{FF2B5EF4-FFF2-40B4-BE49-F238E27FC236}">
                <a16:creationId xmlns:a16="http://schemas.microsoft.com/office/drawing/2014/main" id="{B2B658A0-F1D7-4493-8EB6-0FA7C0956201}"/>
              </a:ext>
            </a:extLst>
          </p:cNvPr>
          <p:cNvSpPr txBox="1"/>
          <p:nvPr/>
        </p:nvSpPr>
        <p:spPr>
          <a:xfrm>
            <a:off x="131795" y="1255393"/>
            <a:ext cx="2675963" cy="400110"/>
          </a:xfrm>
          <a:prstGeom prst="rect">
            <a:avLst/>
          </a:prstGeom>
          <a:noFill/>
        </p:spPr>
        <p:txBody>
          <a:bodyPr wrap="square" rtlCol="0">
            <a:spAutoFit/>
          </a:bodyPr>
          <a:lstStyle/>
          <a:p>
            <a:r>
              <a:rPr lang="es-CO" sz="1600" b="1" dirty="0"/>
              <a:t>b) </a:t>
            </a:r>
            <a:r>
              <a:rPr lang="es-CO" sz="2000" b="1" dirty="0"/>
              <a:t>Relación 1 a 1 (1..1):</a:t>
            </a:r>
            <a:endParaRPr lang="es-CO" sz="2000" dirty="0"/>
          </a:p>
        </p:txBody>
      </p:sp>
      <p:sp>
        <p:nvSpPr>
          <p:cNvPr id="13" name="CuadroTexto 1">
            <a:extLst>
              <a:ext uri="{FF2B5EF4-FFF2-40B4-BE49-F238E27FC236}">
                <a16:creationId xmlns:a16="http://schemas.microsoft.com/office/drawing/2014/main" id="{4685FC71-CD0E-4943-AFDE-5C3C00ACB878}"/>
              </a:ext>
            </a:extLst>
          </p:cNvPr>
          <p:cNvSpPr txBox="1"/>
          <p:nvPr/>
        </p:nvSpPr>
        <p:spPr>
          <a:xfrm>
            <a:off x="518667" y="355820"/>
            <a:ext cx="7942425" cy="369332"/>
          </a:xfrm>
          <a:prstGeom prst="rect">
            <a:avLst/>
          </a:prstGeom>
          <a:noFill/>
        </p:spPr>
        <p:txBody>
          <a:bodyPr wrap="square" rtlCol="0">
            <a:spAutoFit/>
          </a:bodyPr>
          <a:lstStyle/>
          <a:p>
            <a:r>
              <a:rPr lang="es-MX" sz="1800" b="1" i="0" u="none" strike="noStrike" baseline="0" dirty="0">
                <a:solidFill>
                  <a:schemeClr val="bg1"/>
                </a:solidFill>
                <a:latin typeface="Verdana-Bold"/>
              </a:rPr>
              <a:t>TRANSFORMACIÓN MER A MODELO RELACIONAL</a:t>
            </a:r>
            <a:endParaRPr lang="es-ES" sz="3600" b="1" dirty="0">
              <a:solidFill>
                <a:schemeClr val="bg1"/>
              </a:solidFill>
            </a:endParaRPr>
          </a:p>
        </p:txBody>
      </p:sp>
      <p:pic>
        <p:nvPicPr>
          <p:cNvPr id="8" name="Picture 7">
            <a:extLst>
              <a:ext uri="{FF2B5EF4-FFF2-40B4-BE49-F238E27FC236}">
                <a16:creationId xmlns:a16="http://schemas.microsoft.com/office/drawing/2014/main" id="{0E9A5D01-77A2-4596-905F-7F69447D89B6}"/>
              </a:ext>
            </a:extLst>
          </p:cNvPr>
          <p:cNvPicPr>
            <a:picLocks noChangeAspect="1"/>
          </p:cNvPicPr>
          <p:nvPr/>
        </p:nvPicPr>
        <p:blipFill>
          <a:blip r:embed="rId3"/>
          <a:stretch>
            <a:fillRect/>
          </a:stretch>
        </p:blipFill>
        <p:spPr>
          <a:xfrm>
            <a:off x="1319212" y="1900237"/>
            <a:ext cx="6505575" cy="1343025"/>
          </a:xfrm>
          <a:prstGeom prst="rect">
            <a:avLst/>
          </a:prstGeom>
        </p:spPr>
      </p:pic>
      <p:sp>
        <p:nvSpPr>
          <p:cNvPr id="2" name="Arrow: Up 1">
            <a:extLst>
              <a:ext uri="{FF2B5EF4-FFF2-40B4-BE49-F238E27FC236}">
                <a16:creationId xmlns:a16="http://schemas.microsoft.com/office/drawing/2014/main" id="{4CDF4F03-1E46-413B-970F-E2FB8343CD47}"/>
              </a:ext>
            </a:extLst>
          </p:cNvPr>
          <p:cNvSpPr/>
          <p:nvPr/>
        </p:nvSpPr>
        <p:spPr>
          <a:xfrm>
            <a:off x="3856075" y="3131971"/>
            <a:ext cx="287079" cy="712050"/>
          </a:xfrm>
          <a:prstGeom prst="up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s-MX"/>
          </a:p>
        </p:txBody>
      </p:sp>
      <p:sp>
        <p:nvSpPr>
          <p:cNvPr id="7" name="Arrow: Up 6">
            <a:extLst>
              <a:ext uri="{FF2B5EF4-FFF2-40B4-BE49-F238E27FC236}">
                <a16:creationId xmlns:a16="http://schemas.microsoft.com/office/drawing/2014/main" id="{79EC2D50-BC2A-4189-B1E3-C5643E922F27}"/>
              </a:ext>
            </a:extLst>
          </p:cNvPr>
          <p:cNvSpPr/>
          <p:nvPr/>
        </p:nvSpPr>
        <p:spPr>
          <a:xfrm>
            <a:off x="5287926" y="3131971"/>
            <a:ext cx="287079" cy="712050"/>
          </a:xfrm>
          <a:prstGeom prst="up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s-MX"/>
          </a:p>
        </p:txBody>
      </p:sp>
      <p:sp>
        <p:nvSpPr>
          <p:cNvPr id="3" name="Arrow: Left-Right 2">
            <a:extLst>
              <a:ext uri="{FF2B5EF4-FFF2-40B4-BE49-F238E27FC236}">
                <a16:creationId xmlns:a16="http://schemas.microsoft.com/office/drawing/2014/main" id="{6DCF3C3A-3E95-4EE3-9B53-E979EF7D2DF0}"/>
              </a:ext>
            </a:extLst>
          </p:cNvPr>
          <p:cNvSpPr/>
          <p:nvPr/>
        </p:nvSpPr>
        <p:spPr>
          <a:xfrm>
            <a:off x="4221126" y="3636335"/>
            <a:ext cx="978195" cy="207686"/>
          </a:xfrm>
          <a:prstGeom prst="lef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s-MX"/>
          </a:p>
        </p:txBody>
      </p:sp>
    </p:spTree>
    <p:extLst>
      <p:ext uri="{BB962C8B-B14F-4D97-AF65-F5344CB8AC3E}">
        <p14:creationId xmlns:p14="http://schemas.microsoft.com/office/powerpoint/2010/main" val="13832910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2">
            <a:extLst>
              <a:ext uri="{FF2B5EF4-FFF2-40B4-BE49-F238E27FC236}">
                <a16:creationId xmlns:a16="http://schemas.microsoft.com/office/drawing/2014/main" id="{B2B658A0-F1D7-4493-8EB6-0FA7C0956201}"/>
              </a:ext>
            </a:extLst>
          </p:cNvPr>
          <p:cNvSpPr txBox="1"/>
          <p:nvPr/>
        </p:nvSpPr>
        <p:spPr>
          <a:xfrm>
            <a:off x="53162" y="1118606"/>
            <a:ext cx="4415394" cy="400110"/>
          </a:xfrm>
          <a:prstGeom prst="rect">
            <a:avLst/>
          </a:prstGeom>
          <a:noFill/>
        </p:spPr>
        <p:txBody>
          <a:bodyPr wrap="square" rtlCol="0">
            <a:spAutoFit/>
          </a:bodyPr>
          <a:lstStyle/>
          <a:p>
            <a:r>
              <a:rPr lang="es-CO" sz="2000" b="1" dirty="0"/>
              <a:t>c) </a:t>
            </a:r>
            <a:r>
              <a:rPr lang="es-MX" sz="2000" b="1" i="0" u="none" strike="noStrike" baseline="0" dirty="0">
                <a:latin typeface="Verdana-Bold"/>
              </a:rPr>
              <a:t>Relación 1 a Muchos (1..M):</a:t>
            </a:r>
            <a:endParaRPr lang="es-CO" sz="2000" dirty="0"/>
          </a:p>
        </p:txBody>
      </p:sp>
      <p:sp>
        <p:nvSpPr>
          <p:cNvPr id="5" name="CuadroTexto 4">
            <a:extLst>
              <a:ext uri="{FF2B5EF4-FFF2-40B4-BE49-F238E27FC236}">
                <a16:creationId xmlns:a16="http://schemas.microsoft.com/office/drawing/2014/main" id="{51BD4477-8105-47AA-AACD-966F17333ABB}"/>
              </a:ext>
            </a:extLst>
          </p:cNvPr>
          <p:cNvSpPr txBox="1"/>
          <p:nvPr/>
        </p:nvSpPr>
        <p:spPr>
          <a:xfrm>
            <a:off x="105298" y="1689851"/>
            <a:ext cx="4212990" cy="830997"/>
          </a:xfrm>
          <a:prstGeom prst="rect">
            <a:avLst/>
          </a:prstGeom>
          <a:noFill/>
        </p:spPr>
        <p:txBody>
          <a:bodyPr wrap="square" rtlCol="0">
            <a:spAutoFit/>
          </a:bodyPr>
          <a:lstStyle/>
          <a:p>
            <a:pPr algn="l"/>
            <a:r>
              <a:rPr lang="es-MX" sz="1600" b="0" i="0" u="none" strike="noStrike" baseline="0" dirty="0">
                <a:solidFill>
                  <a:srgbClr val="58595B"/>
                </a:solidFill>
                <a:latin typeface="Verdana" panose="020B0604030504040204" pitchFamily="34" charset="0"/>
              </a:rPr>
              <a:t>Esta relación se distingue en un MER porque su cardinalidad entre las dos</a:t>
            </a:r>
          </a:p>
          <a:p>
            <a:pPr algn="l"/>
            <a:r>
              <a:rPr lang="es-MX" sz="1600" b="0" i="0" u="none" strike="noStrike" baseline="0" dirty="0">
                <a:solidFill>
                  <a:srgbClr val="58595B"/>
                </a:solidFill>
                <a:latin typeface="Verdana" panose="020B0604030504040204" pitchFamily="34" charset="0"/>
              </a:rPr>
              <a:t>entidades esta designada por (1..M).</a:t>
            </a:r>
            <a:endParaRPr lang="es-CO" sz="1600" dirty="0"/>
          </a:p>
        </p:txBody>
      </p:sp>
      <p:sp>
        <p:nvSpPr>
          <p:cNvPr id="7" name="CuadroTexto 14">
            <a:extLst>
              <a:ext uri="{FF2B5EF4-FFF2-40B4-BE49-F238E27FC236}">
                <a16:creationId xmlns:a16="http://schemas.microsoft.com/office/drawing/2014/main" id="{A9AF0B6C-3886-4C1F-8EAA-FC88919A27D8}"/>
              </a:ext>
            </a:extLst>
          </p:cNvPr>
          <p:cNvSpPr txBox="1"/>
          <p:nvPr/>
        </p:nvSpPr>
        <p:spPr>
          <a:xfrm>
            <a:off x="167180" y="3004923"/>
            <a:ext cx="3830661" cy="1323439"/>
          </a:xfrm>
          <a:prstGeom prst="rect">
            <a:avLst/>
          </a:prstGeom>
          <a:noFill/>
        </p:spPr>
        <p:txBody>
          <a:bodyPr wrap="square" rtlCol="0">
            <a:spAutoFit/>
          </a:bodyPr>
          <a:lstStyle/>
          <a:p>
            <a:pPr algn="just"/>
            <a:r>
              <a:rPr lang="es-MX" sz="1600" b="0" i="0" u="none" strike="noStrike" baseline="0" dirty="0">
                <a:solidFill>
                  <a:srgbClr val="58595B"/>
                </a:solidFill>
                <a:latin typeface="Verdana" panose="020B0604030504040204" pitchFamily="34" charset="0"/>
              </a:rPr>
              <a:t>Cuando se tiene una relación de este tipo se debe colocar o enviar la llave primaria de la tabla que tiene en cardinalidad 1 a la tabla que tiene cardinalidad M</a:t>
            </a:r>
            <a:endParaRPr lang="es-CO" sz="1600" b="1" i="1" dirty="0"/>
          </a:p>
        </p:txBody>
      </p:sp>
      <p:sp>
        <p:nvSpPr>
          <p:cNvPr id="13" name="CuadroTexto 1">
            <a:extLst>
              <a:ext uri="{FF2B5EF4-FFF2-40B4-BE49-F238E27FC236}">
                <a16:creationId xmlns:a16="http://schemas.microsoft.com/office/drawing/2014/main" id="{4685FC71-CD0E-4943-AFDE-5C3C00ACB878}"/>
              </a:ext>
            </a:extLst>
          </p:cNvPr>
          <p:cNvSpPr txBox="1"/>
          <p:nvPr/>
        </p:nvSpPr>
        <p:spPr>
          <a:xfrm>
            <a:off x="518667" y="355820"/>
            <a:ext cx="7942425" cy="369332"/>
          </a:xfrm>
          <a:prstGeom prst="rect">
            <a:avLst/>
          </a:prstGeom>
          <a:noFill/>
        </p:spPr>
        <p:txBody>
          <a:bodyPr wrap="square" rtlCol="0">
            <a:spAutoFit/>
          </a:bodyPr>
          <a:lstStyle/>
          <a:p>
            <a:r>
              <a:rPr lang="es-MX" sz="1800" b="1" i="0" u="none" strike="noStrike" baseline="0" dirty="0">
                <a:solidFill>
                  <a:schemeClr val="bg1"/>
                </a:solidFill>
                <a:latin typeface="Verdana-Bold"/>
              </a:rPr>
              <a:t>TRANSFORMACIÓN MER A MODELO RELACIONAL</a:t>
            </a:r>
            <a:endParaRPr lang="es-ES" sz="3600" b="1" dirty="0">
              <a:solidFill>
                <a:schemeClr val="bg1"/>
              </a:solidFill>
            </a:endParaRPr>
          </a:p>
        </p:txBody>
      </p:sp>
      <p:pic>
        <p:nvPicPr>
          <p:cNvPr id="21" name="Picture 20">
            <a:extLst>
              <a:ext uri="{FF2B5EF4-FFF2-40B4-BE49-F238E27FC236}">
                <a16:creationId xmlns:a16="http://schemas.microsoft.com/office/drawing/2014/main" id="{A18BF54C-6052-4A72-9D0F-DFA7D044ED74}"/>
              </a:ext>
            </a:extLst>
          </p:cNvPr>
          <p:cNvPicPr>
            <a:picLocks noChangeAspect="1"/>
          </p:cNvPicPr>
          <p:nvPr/>
        </p:nvPicPr>
        <p:blipFill>
          <a:blip r:embed="rId3"/>
          <a:stretch>
            <a:fillRect/>
          </a:stretch>
        </p:blipFill>
        <p:spPr>
          <a:xfrm>
            <a:off x="4340732" y="1475808"/>
            <a:ext cx="4697970" cy="1595641"/>
          </a:xfrm>
          <a:prstGeom prst="rect">
            <a:avLst/>
          </a:prstGeom>
        </p:spPr>
      </p:pic>
      <p:pic>
        <p:nvPicPr>
          <p:cNvPr id="23" name="Picture 22">
            <a:extLst>
              <a:ext uri="{FF2B5EF4-FFF2-40B4-BE49-F238E27FC236}">
                <a16:creationId xmlns:a16="http://schemas.microsoft.com/office/drawing/2014/main" id="{3F5ADCDF-4CEB-4765-BFD8-815A05DA1DBF}"/>
              </a:ext>
            </a:extLst>
          </p:cNvPr>
          <p:cNvPicPr>
            <a:picLocks noChangeAspect="1"/>
          </p:cNvPicPr>
          <p:nvPr/>
        </p:nvPicPr>
        <p:blipFill>
          <a:blip r:embed="rId4"/>
          <a:stretch>
            <a:fillRect/>
          </a:stretch>
        </p:blipFill>
        <p:spPr>
          <a:xfrm>
            <a:off x="4468556" y="3791246"/>
            <a:ext cx="4547702" cy="1181100"/>
          </a:xfrm>
          <a:prstGeom prst="rect">
            <a:avLst/>
          </a:prstGeom>
        </p:spPr>
      </p:pic>
      <p:sp>
        <p:nvSpPr>
          <p:cNvPr id="24" name="CuadroTexto 12">
            <a:extLst>
              <a:ext uri="{FF2B5EF4-FFF2-40B4-BE49-F238E27FC236}">
                <a16:creationId xmlns:a16="http://schemas.microsoft.com/office/drawing/2014/main" id="{5997C808-5FB9-47AA-97B5-A11B8EF203F2}"/>
              </a:ext>
            </a:extLst>
          </p:cNvPr>
          <p:cNvSpPr txBox="1"/>
          <p:nvPr/>
        </p:nvSpPr>
        <p:spPr>
          <a:xfrm>
            <a:off x="4340732" y="3421914"/>
            <a:ext cx="2855230" cy="369332"/>
          </a:xfrm>
          <a:prstGeom prst="rect">
            <a:avLst/>
          </a:prstGeom>
          <a:noFill/>
        </p:spPr>
        <p:txBody>
          <a:bodyPr wrap="square" rtlCol="0">
            <a:spAutoFit/>
          </a:bodyPr>
          <a:lstStyle/>
          <a:p>
            <a:r>
              <a:rPr lang="es-CO" dirty="0"/>
              <a:t>Modelo Relación</a:t>
            </a:r>
          </a:p>
        </p:txBody>
      </p:sp>
      <p:sp>
        <p:nvSpPr>
          <p:cNvPr id="25" name="CuadroTexto 9">
            <a:extLst>
              <a:ext uri="{FF2B5EF4-FFF2-40B4-BE49-F238E27FC236}">
                <a16:creationId xmlns:a16="http://schemas.microsoft.com/office/drawing/2014/main" id="{B4F6F55C-562A-405F-A67F-49CC91938A86}"/>
              </a:ext>
            </a:extLst>
          </p:cNvPr>
          <p:cNvSpPr txBox="1"/>
          <p:nvPr/>
        </p:nvSpPr>
        <p:spPr>
          <a:xfrm>
            <a:off x="4549267" y="1172557"/>
            <a:ext cx="619080" cy="369332"/>
          </a:xfrm>
          <a:prstGeom prst="rect">
            <a:avLst/>
          </a:prstGeom>
          <a:noFill/>
        </p:spPr>
        <p:txBody>
          <a:bodyPr wrap="none" rtlCol="0">
            <a:spAutoFit/>
          </a:bodyPr>
          <a:lstStyle/>
          <a:p>
            <a:r>
              <a:rPr lang="es-CO" dirty="0"/>
              <a:t>MER</a:t>
            </a:r>
          </a:p>
        </p:txBody>
      </p:sp>
      <p:sp>
        <p:nvSpPr>
          <p:cNvPr id="26" name="Arrow: Down 25">
            <a:extLst>
              <a:ext uri="{FF2B5EF4-FFF2-40B4-BE49-F238E27FC236}">
                <a16:creationId xmlns:a16="http://schemas.microsoft.com/office/drawing/2014/main" id="{D274D548-DE1C-4A8F-9AD7-F2FDDEF31B26}"/>
              </a:ext>
            </a:extLst>
          </p:cNvPr>
          <p:cNvSpPr/>
          <p:nvPr/>
        </p:nvSpPr>
        <p:spPr>
          <a:xfrm>
            <a:off x="6462315" y="3099143"/>
            <a:ext cx="340242" cy="537565"/>
          </a:xfrm>
          <a:prstGeom prst="down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s-MX"/>
          </a:p>
        </p:txBody>
      </p:sp>
    </p:spTree>
    <p:extLst>
      <p:ext uri="{BB962C8B-B14F-4D97-AF65-F5344CB8AC3E}">
        <p14:creationId xmlns:p14="http://schemas.microsoft.com/office/powerpoint/2010/main" val="325459442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CuadroTexto 1">
            <a:extLst>
              <a:ext uri="{FF2B5EF4-FFF2-40B4-BE49-F238E27FC236}">
                <a16:creationId xmlns:a16="http://schemas.microsoft.com/office/drawing/2014/main" id="{4685FC71-CD0E-4943-AFDE-5C3C00ACB878}"/>
              </a:ext>
            </a:extLst>
          </p:cNvPr>
          <p:cNvSpPr txBox="1"/>
          <p:nvPr/>
        </p:nvSpPr>
        <p:spPr>
          <a:xfrm>
            <a:off x="518667" y="355820"/>
            <a:ext cx="7942425" cy="369332"/>
          </a:xfrm>
          <a:prstGeom prst="rect">
            <a:avLst/>
          </a:prstGeom>
          <a:noFill/>
        </p:spPr>
        <p:txBody>
          <a:bodyPr wrap="square" rtlCol="0">
            <a:spAutoFit/>
          </a:bodyPr>
          <a:lstStyle/>
          <a:p>
            <a:r>
              <a:rPr lang="es-MX" sz="1800" b="1" i="0" u="none" strike="noStrike" baseline="0" dirty="0">
                <a:solidFill>
                  <a:schemeClr val="bg1"/>
                </a:solidFill>
                <a:latin typeface="Verdana-Bold"/>
              </a:rPr>
              <a:t>TRANSFORMACIÓN MER A MODELO RELACIONAL</a:t>
            </a:r>
            <a:endParaRPr lang="es-ES" sz="3600" b="1" dirty="0">
              <a:solidFill>
                <a:schemeClr val="bg1"/>
              </a:solidFill>
            </a:endParaRPr>
          </a:p>
        </p:txBody>
      </p:sp>
      <p:pic>
        <p:nvPicPr>
          <p:cNvPr id="23" name="Picture 22">
            <a:extLst>
              <a:ext uri="{FF2B5EF4-FFF2-40B4-BE49-F238E27FC236}">
                <a16:creationId xmlns:a16="http://schemas.microsoft.com/office/drawing/2014/main" id="{3F5ADCDF-4CEB-4765-BFD8-815A05DA1DBF}"/>
              </a:ext>
            </a:extLst>
          </p:cNvPr>
          <p:cNvPicPr>
            <a:picLocks noChangeAspect="1"/>
          </p:cNvPicPr>
          <p:nvPr/>
        </p:nvPicPr>
        <p:blipFill>
          <a:blip r:embed="rId3"/>
          <a:stretch>
            <a:fillRect/>
          </a:stretch>
        </p:blipFill>
        <p:spPr>
          <a:xfrm>
            <a:off x="2449671" y="1385333"/>
            <a:ext cx="4547702" cy="1181100"/>
          </a:xfrm>
          <a:prstGeom prst="rect">
            <a:avLst/>
          </a:prstGeom>
        </p:spPr>
      </p:pic>
      <p:sp>
        <p:nvSpPr>
          <p:cNvPr id="24" name="CuadroTexto 12">
            <a:extLst>
              <a:ext uri="{FF2B5EF4-FFF2-40B4-BE49-F238E27FC236}">
                <a16:creationId xmlns:a16="http://schemas.microsoft.com/office/drawing/2014/main" id="{5997C808-5FB9-47AA-97B5-A11B8EF203F2}"/>
              </a:ext>
            </a:extLst>
          </p:cNvPr>
          <p:cNvSpPr txBox="1"/>
          <p:nvPr/>
        </p:nvSpPr>
        <p:spPr>
          <a:xfrm>
            <a:off x="3475955" y="1039034"/>
            <a:ext cx="2855230" cy="369332"/>
          </a:xfrm>
          <a:prstGeom prst="rect">
            <a:avLst/>
          </a:prstGeom>
          <a:noFill/>
        </p:spPr>
        <p:txBody>
          <a:bodyPr wrap="square" rtlCol="0">
            <a:spAutoFit/>
          </a:bodyPr>
          <a:lstStyle/>
          <a:p>
            <a:r>
              <a:rPr lang="es-CO" dirty="0"/>
              <a:t>Modelo Relacional</a:t>
            </a:r>
          </a:p>
        </p:txBody>
      </p:sp>
      <p:sp>
        <p:nvSpPr>
          <p:cNvPr id="26" name="Arrow: Down 25">
            <a:extLst>
              <a:ext uri="{FF2B5EF4-FFF2-40B4-BE49-F238E27FC236}">
                <a16:creationId xmlns:a16="http://schemas.microsoft.com/office/drawing/2014/main" id="{D274D548-DE1C-4A8F-9AD7-F2FDDEF31B26}"/>
              </a:ext>
            </a:extLst>
          </p:cNvPr>
          <p:cNvSpPr/>
          <p:nvPr/>
        </p:nvSpPr>
        <p:spPr>
          <a:xfrm>
            <a:off x="2847245" y="4028581"/>
            <a:ext cx="340242" cy="537565"/>
          </a:xfrm>
          <a:prstGeom prst="down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s-MX"/>
          </a:p>
        </p:txBody>
      </p:sp>
      <p:pic>
        <p:nvPicPr>
          <p:cNvPr id="3" name="Picture 2">
            <a:extLst>
              <a:ext uri="{FF2B5EF4-FFF2-40B4-BE49-F238E27FC236}">
                <a16:creationId xmlns:a16="http://schemas.microsoft.com/office/drawing/2014/main" id="{802EB99C-A90F-464F-83B2-B379E509DACE}"/>
              </a:ext>
            </a:extLst>
          </p:cNvPr>
          <p:cNvPicPr>
            <a:picLocks noChangeAspect="1"/>
          </p:cNvPicPr>
          <p:nvPr/>
        </p:nvPicPr>
        <p:blipFill>
          <a:blip r:embed="rId4"/>
          <a:stretch>
            <a:fillRect/>
          </a:stretch>
        </p:blipFill>
        <p:spPr>
          <a:xfrm>
            <a:off x="1877827" y="3093658"/>
            <a:ext cx="6143625" cy="1571625"/>
          </a:xfrm>
          <a:prstGeom prst="rect">
            <a:avLst/>
          </a:prstGeom>
        </p:spPr>
      </p:pic>
      <p:sp>
        <p:nvSpPr>
          <p:cNvPr id="2" name="Arrow: Down 1">
            <a:extLst>
              <a:ext uri="{FF2B5EF4-FFF2-40B4-BE49-F238E27FC236}">
                <a16:creationId xmlns:a16="http://schemas.microsoft.com/office/drawing/2014/main" id="{CD8251C7-892B-46A6-BDB8-C15F3A8E4DEC}"/>
              </a:ext>
            </a:extLst>
          </p:cNvPr>
          <p:cNvSpPr/>
          <p:nvPr/>
        </p:nvSpPr>
        <p:spPr>
          <a:xfrm>
            <a:off x="4595226" y="2579576"/>
            <a:ext cx="221323" cy="462881"/>
          </a:xfrm>
          <a:prstGeom prst="down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s-MX"/>
          </a:p>
        </p:txBody>
      </p:sp>
      <p:sp>
        <p:nvSpPr>
          <p:cNvPr id="4" name="Arrow: Up 3">
            <a:extLst>
              <a:ext uri="{FF2B5EF4-FFF2-40B4-BE49-F238E27FC236}">
                <a16:creationId xmlns:a16="http://schemas.microsoft.com/office/drawing/2014/main" id="{281BA933-01EA-4A90-B9AD-DE1C55D91FEA}"/>
              </a:ext>
            </a:extLst>
          </p:cNvPr>
          <p:cNvSpPr/>
          <p:nvPr/>
        </p:nvSpPr>
        <p:spPr>
          <a:xfrm>
            <a:off x="2402929" y="4581022"/>
            <a:ext cx="293529" cy="395288"/>
          </a:xfrm>
          <a:prstGeom prst="up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s-MX"/>
          </a:p>
        </p:txBody>
      </p:sp>
      <p:sp>
        <p:nvSpPr>
          <p:cNvPr id="10" name="Arrow: Up 9">
            <a:extLst>
              <a:ext uri="{FF2B5EF4-FFF2-40B4-BE49-F238E27FC236}">
                <a16:creationId xmlns:a16="http://schemas.microsoft.com/office/drawing/2014/main" id="{BC4BF19F-66A2-4F61-84C3-EBB9CF9862B5}"/>
              </a:ext>
            </a:extLst>
          </p:cNvPr>
          <p:cNvSpPr/>
          <p:nvPr/>
        </p:nvSpPr>
        <p:spPr>
          <a:xfrm>
            <a:off x="7257584" y="4518840"/>
            <a:ext cx="293529" cy="395288"/>
          </a:xfrm>
          <a:prstGeom prst="up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s-MX"/>
          </a:p>
        </p:txBody>
      </p:sp>
      <p:sp>
        <p:nvSpPr>
          <p:cNvPr id="5" name="Arrow: Left-Right 4">
            <a:extLst>
              <a:ext uri="{FF2B5EF4-FFF2-40B4-BE49-F238E27FC236}">
                <a16:creationId xmlns:a16="http://schemas.microsoft.com/office/drawing/2014/main" id="{F355BFA2-B7E6-4B22-AF66-822DF2CE1000}"/>
              </a:ext>
            </a:extLst>
          </p:cNvPr>
          <p:cNvSpPr/>
          <p:nvPr/>
        </p:nvSpPr>
        <p:spPr>
          <a:xfrm>
            <a:off x="2864296" y="4787680"/>
            <a:ext cx="4393288" cy="331867"/>
          </a:xfrm>
          <a:prstGeom prst="lef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s-MX"/>
          </a:p>
        </p:txBody>
      </p:sp>
    </p:spTree>
    <p:extLst>
      <p:ext uri="{BB962C8B-B14F-4D97-AF65-F5344CB8AC3E}">
        <p14:creationId xmlns:p14="http://schemas.microsoft.com/office/powerpoint/2010/main" val="84696258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14">
            <a:extLst>
              <a:ext uri="{FF2B5EF4-FFF2-40B4-BE49-F238E27FC236}">
                <a16:creationId xmlns:a16="http://schemas.microsoft.com/office/drawing/2014/main" id="{AC0E540E-2A54-444E-B326-B9F4C44471A6}"/>
              </a:ext>
            </a:extLst>
          </p:cNvPr>
          <p:cNvSpPr txBox="1"/>
          <p:nvPr/>
        </p:nvSpPr>
        <p:spPr>
          <a:xfrm>
            <a:off x="0" y="1086072"/>
            <a:ext cx="8941981" cy="2246769"/>
          </a:xfrm>
          <a:prstGeom prst="rect">
            <a:avLst/>
          </a:prstGeom>
          <a:noFill/>
        </p:spPr>
        <p:txBody>
          <a:bodyPr wrap="square" rtlCol="0">
            <a:spAutoFit/>
          </a:bodyPr>
          <a:lstStyle/>
          <a:p>
            <a:r>
              <a:rPr lang="es-CO" sz="1400" b="1" dirty="0"/>
              <a:t>Ejercicios MER : </a:t>
            </a:r>
          </a:p>
          <a:p>
            <a:pPr marL="342900" indent="-342900" algn="just">
              <a:buAutoNum type="arabicParenR"/>
            </a:pPr>
            <a:r>
              <a:rPr lang="es-CO" sz="1400" dirty="0"/>
              <a:t>A partir del siguiente enunciado se desea realiza el modelo entidad-relación.</a:t>
            </a:r>
          </a:p>
          <a:p>
            <a:pPr algn="just"/>
            <a:endParaRPr lang="es-CO" sz="1400" dirty="0"/>
          </a:p>
          <a:p>
            <a:pPr algn="just"/>
            <a:r>
              <a:rPr lang="es-CO" sz="1400" i="1" dirty="0"/>
              <a:t>“Una </a:t>
            </a:r>
            <a:r>
              <a:rPr lang="es-CO" sz="1400" i="1" dirty="0">
                <a:solidFill>
                  <a:srgbClr val="FF0000"/>
                </a:solidFill>
              </a:rPr>
              <a:t>empresa</a:t>
            </a:r>
            <a:r>
              <a:rPr lang="es-CO" sz="1400" i="1" dirty="0"/>
              <a:t> vende </a:t>
            </a:r>
            <a:r>
              <a:rPr lang="es-CO" sz="1400" i="1" dirty="0">
                <a:solidFill>
                  <a:srgbClr val="FF0000"/>
                </a:solidFill>
              </a:rPr>
              <a:t>productos</a:t>
            </a:r>
            <a:r>
              <a:rPr lang="es-CO" sz="1400" i="1" dirty="0"/>
              <a:t> a varios </a:t>
            </a:r>
            <a:r>
              <a:rPr lang="es-CO" sz="1400" i="1" dirty="0">
                <a:solidFill>
                  <a:srgbClr val="FF0000"/>
                </a:solidFill>
              </a:rPr>
              <a:t>clientes</a:t>
            </a:r>
            <a:r>
              <a:rPr lang="es-CO" sz="1400" i="1" dirty="0"/>
              <a:t>. Se necesita conocer los datos personales de los clientes (nombre, apellidos, dni, dirección y fecha de nacimiento). Cada producto tiene un nombre y un código, así como un precio unitario. Un cliente puede comprar varios productos a la empresa, y un mismo producto puede ser comprado por varios clientes.</a:t>
            </a:r>
            <a:endParaRPr lang="es-CO" sz="1400" dirty="0"/>
          </a:p>
          <a:p>
            <a:pPr algn="just"/>
            <a:r>
              <a:rPr lang="es-CO" sz="1400" i="1" dirty="0"/>
              <a:t>Los productos son suministrados por diferentes proveedores. Se debe tener en cuenta que un producto sólo puede ser suministrado por un proveedor, y que un proveedor puede suministrar diferentes productos. De cada proveedor se desea conocer el NIF, nombre y dirección”.</a:t>
            </a:r>
          </a:p>
          <a:p>
            <a:pPr algn="just"/>
            <a:endParaRPr lang="es-CO" sz="1400" i="1" dirty="0"/>
          </a:p>
        </p:txBody>
      </p:sp>
      <p:sp>
        <p:nvSpPr>
          <p:cNvPr id="4" name="CuadroTexto 1">
            <a:extLst>
              <a:ext uri="{FF2B5EF4-FFF2-40B4-BE49-F238E27FC236}">
                <a16:creationId xmlns:a16="http://schemas.microsoft.com/office/drawing/2014/main" id="{A541DC05-A88C-4985-BFFB-C6D06E60057E}"/>
              </a:ext>
            </a:extLst>
          </p:cNvPr>
          <p:cNvSpPr txBox="1"/>
          <p:nvPr/>
        </p:nvSpPr>
        <p:spPr>
          <a:xfrm>
            <a:off x="518667" y="355820"/>
            <a:ext cx="7942425" cy="369332"/>
          </a:xfrm>
          <a:prstGeom prst="rect">
            <a:avLst/>
          </a:prstGeom>
          <a:noFill/>
        </p:spPr>
        <p:txBody>
          <a:bodyPr wrap="square" rtlCol="0">
            <a:spAutoFit/>
          </a:bodyPr>
          <a:lstStyle/>
          <a:p>
            <a:r>
              <a:rPr lang="es-MX" sz="1800" b="1" i="0" u="none" strike="noStrike" baseline="0" dirty="0">
                <a:solidFill>
                  <a:schemeClr val="bg1"/>
                </a:solidFill>
                <a:latin typeface="Verdana-Bold"/>
              </a:rPr>
              <a:t>TRANSFORMACIÓN MER A MODELO RELACIONAL</a:t>
            </a:r>
            <a:endParaRPr lang="es-ES" sz="3600" b="1" dirty="0">
              <a:solidFill>
                <a:schemeClr val="bg1"/>
              </a:solidFill>
            </a:endParaRPr>
          </a:p>
        </p:txBody>
      </p:sp>
    </p:spTree>
    <p:extLst>
      <p:ext uri="{BB962C8B-B14F-4D97-AF65-F5344CB8AC3E}">
        <p14:creationId xmlns:p14="http://schemas.microsoft.com/office/powerpoint/2010/main" val="270950114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1">
            <a:extLst>
              <a:ext uri="{FF2B5EF4-FFF2-40B4-BE49-F238E27FC236}">
                <a16:creationId xmlns:a16="http://schemas.microsoft.com/office/drawing/2014/main" id="{A541DC05-A88C-4985-BFFB-C6D06E60057E}"/>
              </a:ext>
            </a:extLst>
          </p:cNvPr>
          <p:cNvSpPr txBox="1"/>
          <p:nvPr/>
        </p:nvSpPr>
        <p:spPr>
          <a:xfrm>
            <a:off x="518667" y="355820"/>
            <a:ext cx="7942425" cy="369332"/>
          </a:xfrm>
          <a:prstGeom prst="rect">
            <a:avLst/>
          </a:prstGeom>
          <a:noFill/>
        </p:spPr>
        <p:txBody>
          <a:bodyPr wrap="square" rtlCol="0">
            <a:spAutoFit/>
          </a:bodyPr>
          <a:lstStyle/>
          <a:p>
            <a:r>
              <a:rPr lang="es-MX" sz="1800" b="1" i="0" u="none" strike="noStrike" baseline="0" dirty="0">
                <a:solidFill>
                  <a:schemeClr val="bg1"/>
                </a:solidFill>
                <a:latin typeface="Verdana-Bold"/>
              </a:rPr>
              <a:t>TRANSFORMACIÓN MER A MODELO RELACIONAL</a:t>
            </a:r>
            <a:endParaRPr lang="es-ES" sz="3600" b="1" dirty="0">
              <a:solidFill>
                <a:schemeClr val="bg1"/>
              </a:solidFill>
            </a:endParaRPr>
          </a:p>
        </p:txBody>
      </p:sp>
      <p:pic>
        <p:nvPicPr>
          <p:cNvPr id="5" name="Picture 4">
            <a:extLst>
              <a:ext uri="{FF2B5EF4-FFF2-40B4-BE49-F238E27FC236}">
                <a16:creationId xmlns:a16="http://schemas.microsoft.com/office/drawing/2014/main" id="{8EE41DD4-352D-42E0-914C-ADB319CF0C23}"/>
              </a:ext>
            </a:extLst>
          </p:cNvPr>
          <p:cNvPicPr>
            <a:picLocks noChangeAspect="1"/>
          </p:cNvPicPr>
          <p:nvPr/>
        </p:nvPicPr>
        <p:blipFill>
          <a:blip r:embed="rId3"/>
          <a:stretch>
            <a:fillRect/>
          </a:stretch>
        </p:blipFill>
        <p:spPr>
          <a:xfrm>
            <a:off x="148856" y="1095152"/>
            <a:ext cx="8878186" cy="3968739"/>
          </a:xfrm>
          <a:prstGeom prst="rect">
            <a:avLst/>
          </a:prstGeom>
        </p:spPr>
      </p:pic>
    </p:spTree>
    <p:extLst>
      <p:ext uri="{BB962C8B-B14F-4D97-AF65-F5344CB8AC3E}">
        <p14:creationId xmlns:p14="http://schemas.microsoft.com/office/powerpoint/2010/main" val="25131586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1">
            <a:extLst>
              <a:ext uri="{FF2B5EF4-FFF2-40B4-BE49-F238E27FC236}">
                <a16:creationId xmlns:a16="http://schemas.microsoft.com/office/drawing/2014/main" id="{A541DC05-A88C-4985-BFFB-C6D06E60057E}"/>
              </a:ext>
            </a:extLst>
          </p:cNvPr>
          <p:cNvSpPr txBox="1"/>
          <p:nvPr/>
        </p:nvSpPr>
        <p:spPr>
          <a:xfrm>
            <a:off x="518667" y="355820"/>
            <a:ext cx="7942425" cy="369332"/>
          </a:xfrm>
          <a:prstGeom prst="rect">
            <a:avLst/>
          </a:prstGeom>
          <a:noFill/>
        </p:spPr>
        <p:txBody>
          <a:bodyPr wrap="square" rtlCol="0">
            <a:spAutoFit/>
          </a:bodyPr>
          <a:lstStyle/>
          <a:p>
            <a:r>
              <a:rPr lang="es-MX" sz="1800" b="1" i="0" u="none" strike="noStrike" baseline="0" dirty="0">
                <a:solidFill>
                  <a:schemeClr val="bg1"/>
                </a:solidFill>
                <a:latin typeface="Verdana-Bold"/>
              </a:rPr>
              <a:t>TRANSFORMACIÓN MER A MODELO RELACIONAL</a:t>
            </a:r>
            <a:endParaRPr lang="es-ES" sz="3600" b="1" dirty="0">
              <a:solidFill>
                <a:schemeClr val="bg1"/>
              </a:solidFill>
            </a:endParaRPr>
          </a:p>
        </p:txBody>
      </p:sp>
      <p:sp>
        <p:nvSpPr>
          <p:cNvPr id="6" name="CuadroTexto 14">
            <a:extLst>
              <a:ext uri="{FF2B5EF4-FFF2-40B4-BE49-F238E27FC236}">
                <a16:creationId xmlns:a16="http://schemas.microsoft.com/office/drawing/2014/main" id="{66E2E0F9-0173-4140-A069-2C12DC54A9A3}"/>
              </a:ext>
            </a:extLst>
          </p:cNvPr>
          <p:cNvSpPr txBox="1"/>
          <p:nvPr/>
        </p:nvSpPr>
        <p:spPr>
          <a:xfrm>
            <a:off x="0" y="1086072"/>
            <a:ext cx="8941981" cy="2677656"/>
          </a:xfrm>
          <a:prstGeom prst="rect">
            <a:avLst/>
          </a:prstGeom>
          <a:noFill/>
        </p:spPr>
        <p:txBody>
          <a:bodyPr wrap="square" rtlCol="0">
            <a:spAutoFit/>
          </a:bodyPr>
          <a:lstStyle/>
          <a:p>
            <a:r>
              <a:rPr lang="es-CO" sz="1400" b="1" dirty="0"/>
              <a:t>Ejercicios MER : </a:t>
            </a:r>
          </a:p>
          <a:p>
            <a:pPr algn="just"/>
            <a:endParaRPr lang="es-CO" sz="1400" i="1" dirty="0"/>
          </a:p>
          <a:p>
            <a:pPr algn="just"/>
            <a:r>
              <a:rPr lang="es-CO" sz="1400" i="1" dirty="0"/>
              <a:t>2) A partir del siguiente enunciado se desea realizar el modelo entidad-relación.</a:t>
            </a:r>
          </a:p>
          <a:p>
            <a:pPr algn="just"/>
            <a:r>
              <a:rPr lang="es-CO" sz="1400" i="1" dirty="0"/>
              <a:t>“Se desea informatizar la gestión de una </a:t>
            </a:r>
            <a:r>
              <a:rPr lang="es-CO" sz="1400" i="1" dirty="0">
                <a:solidFill>
                  <a:srgbClr val="FF0000"/>
                </a:solidFill>
              </a:rPr>
              <a:t>empresa</a:t>
            </a:r>
            <a:r>
              <a:rPr lang="es-CO" sz="1400" i="1" dirty="0"/>
              <a:t> de </a:t>
            </a:r>
            <a:r>
              <a:rPr lang="es-CO" sz="1400" i="1" dirty="0">
                <a:solidFill>
                  <a:srgbClr val="FF0000"/>
                </a:solidFill>
              </a:rPr>
              <a:t>transportes</a:t>
            </a:r>
            <a:r>
              <a:rPr lang="es-CO" sz="1400" i="1" dirty="0"/>
              <a:t> que reparte </a:t>
            </a:r>
            <a:r>
              <a:rPr lang="es-CO" sz="1400" i="1" dirty="0">
                <a:solidFill>
                  <a:srgbClr val="FF0000"/>
                </a:solidFill>
              </a:rPr>
              <a:t>paquetes</a:t>
            </a:r>
            <a:r>
              <a:rPr lang="es-CO" sz="1400" i="1" dirty="0"/>
              <a:t> por toda Colombia. </a:t>
            </a:r>
          </a:p>
          <a:p>
            <a:pPr algn="just"/>
            <a:r>
              <a:rPr lang="es-CO" sz="1400" i="1" dirty="0"/>
              <a:t>Los encargados de llevar los </a:t>
            </a:r>
            <a:r>
              <a:rPr lang="es-CO" sz="1400" i="1" dirty="0">
                <a:solidFill>
                  <a:srgbClr val="FF0000"/>
                </a:solidFill>
              </a:rPr>
              <a:t>paquetes</a:t>
            </a:r>
            <a:r>
              <a:rPr lang="es-CO" sz="1400" i="1" dirty="0"/>
              <a:t> son los </a:t>
            </a:r>
            <a:r>
              <a:rPr lang="es-CO" sz="1400" i="1" dirty="0">
                <a:solidFill>
                  <a:srgbClr val="FF0000"/>
                </a:solidFill>
              </a:rPr>
              <a:t>camioneros</a:t>
            </a:r>
            <a:r>
              <a:rPr lang="es-CO" sz="1400" i="1" dirty="0"/>
              <a:t>, de los que se quiere guardar el dni, nombre, teléfono, dirección, salario y población en la que vive.</a:t>
            </a:r>
          </a:p>
          <a:p>
            <a:pPr algn="just"/>
            <a:r>
              <a:rPr lang="es-CO" sz="1400" i="1" dirty="0"/>
              <a:t>De los paquetes transportados interesa conocer el código de paquete, descripción, destinatario y dirección del  destinatario. Un camionero distribuye muchos paquetes, y un paquete sólo puede ser distribuido por un camionero.</a:t>
            </a:r>
          </a:p>
          <a:p>
            <a:pPr algn="just"/>
            <a:r>
              <a:rPr lang="es-CO" sz="1400" i="1" dirty="0"/>
              <a:t>De las provincias a las que llegan los paquetes interesa guardar el código de provincia y el nombre. Un paquete sólo puede llegar a una provincia. Sin embargo, a una provincia pueden llegar varios paquetes.</a:t>
            </a:r>
          </a:p>
          <a:p>
            <a:pPr algn="just"/>
            <a:r>
              <a:rPr lang="es-CO" sz="1400" i="1" dirty="0"/>
              <a:t>De los camiones que llevan los camioneros, interesa conocer la matrícula, modelo, tipo y potencia. Un camionero puede conducir diferentes camiones en fechas diferentes, y un camión puede ser conducido por varios camioneros”.</a:t>
            </a:r>
            <a:endParaRPr lang="es-CO" sz="1400" b="1" dirty="0"/>
          </a:p>
        </p:txBody>
      </p:sp>
    </p:spTree>
    <p:extLst>
      <p:ext uri="{BB962C8B-B14F-4D97-AF65-F5344CB8AC3E}">
        <p14:creationId xmlns:p14="http://schemas.microsoft.com/office/powerpoint/2010/main" val="378504705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181596749"/>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1705</TotalTime>
  <Words>948</Words>
  <Application>Microsoft Office PowerPoint</Application>
  <PresentationFormat>Presentación en pantalla (16:9)</PresentationFormat>
  <Paragraphs>94</Paragraphs>
  <Slides>19</Slides>
  <Notes>17</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19</vt:i4>
      </vt:variant>
    </vt:vector>
  </HeadingPairs>
  <TitlesOfParts>
    <vt:vector size="24" baseType="lpstr">
      <vt:lpstr>Arial</vt:lpstr>
      <vt:lpstr>Calibri</vt:lpstr>
      <vt:lpstr>Verdana</vt:lpstr>
      <vt:lpstr>Verdana-Bold</vt:lpstr>
      <vt:lpstr>Tema de Office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Leonardo Cantor</dc:creator>
  <cp:lastModifiedBy>Wilson Martinez Saldarriaga</cp:lastModifiedBy>
  <cp:revision>179</cp:revision>
  <dcterms:created xsi:type="dcterms:W3CDTF">2019-11-27T03:16:21Z</dcterms:created>
  <dcterms:modified xsi:type="dcterms:W3CDTF">2023-07-31T21:41:06Z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1299739c-ad3d-4908-806e-4d91151a6e13_Enabled">
    <vt:lpwstr>true</vt:lpwstr>
  </property>
  <property fmtid="{D5CDD505-2E9C-101B-9397-08002B2CF9AE}" pid="3" name="MSIP_Label_1299739c-ad3d-4908-806e-4d91151a6e13_SetDate">
    <vt:lpwstr>2023-03-03T16:40:00Z</vt:lpwstr>
  </property>
  <property fmtid="{D5CDD505-2E9C-101B-9397-08002B2CF9AE}" pid="4" name="MSIP_Label_1299739c-ad3d-4908-806e-4d91151a6e13_Method">
    <vt:lpwstr>Standard</vt:lpwstr>
  </property>
  <property fmtid="{D5CDD505-2E9C-101B-9397-08002B2CF9AE}" pid="5" name="MSIP_Label_1299739c-ad3d-4908-806e-4d91151a6e13_Name">
    <vt:lpwstr>All Employees (Unrestricted)</vt:lpwstr>
  </property>
  <property fmtid="{D5CDD505-2E9C-101B-9397-08002B2CF9AE}" pid="6" name="MSIP_Label_1299739c-ad3d-4908-806e-4d91151a6e13_SiteId">
    <vt:lpwstr>cbc2c381-2f2e-4d93-91d1-506c9316ace7</vt:lpwstr>
  </property>
  <property fmtid="{D5CDD505-2E9C-101B-9397-08002B2CF9AE}" pid="7" name="MSIP_Label_1299739c-ad3d-4908-806e-4d91151a6e13_ActionId">
    <vt:lpwstr>4e18ffc9-2b90-4f66-b46b-dfee5412b2f8</vt:lpwstr>
  </property>
  <property fmtid="{D5CDD505-2E9C-101B-9397-08002B2CF9AE}" pid="8" name="MSIP_Label_1299739c-ad3d-4908-806e-4d91151a6e13_ContentBits">
    <vt:lpwstr>0</vt:lpwstr>
  </property>
</Properties>
</file>