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handoutMasterIdLst>
    <p:handoutMasterId r:id="rId27"/>
  </p:handoutMasterIdLst>
  <p:sldIdLst>
    <p:sldId id="468" r:id="rId2"/>
    <p:sldId id="502" r:id="rId3"/>
    <p:sldId id="503" r:id="rId4"/>
    <p:sldId id="504" r:id="rId5"/>
    <p:sldId id="505" r:id="rId6"/>
    <p:sldId id="506" r:id="rId7"/>
    <p:sldId id="507" r:id="rId8"/>
    <p:sldId id="508" r:id="rId9"/>
    <p:sldId id="509" r:id="rId10"/>
    <p:sldId id="510" r:id="rId11"/>
    <p:sldId id="511" r:id="rId12"/>
    <p:sldId id="512" r:id="rId13"/>
    <p:sldId id="513" r:id="rId14"/>
    <p:sldId id="514" r:id="rId15"/>
    <p:sldId id="515" r:id="rId16"/>
    <p:sldId id="516" r:id="rId17"/>
    <p:sldId id="517" r:id="rId18"/>
    <p:sldId id="518" r:id="rId19"/>
    <p:sldId id="519" r:id="rId20"/>
    <p:sldId id="520" r:id="rId21"/>
    <p:sldId id="521" r:id="rId22"/>
    <p:sldId id="522" r:id="rId23"/>
    <p:sldId id="523" r:id="rId24"/>
    <p:sldId id="264" r:id="rId2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C00"/>
    <a:srgbClr val="38AA00"/>
    <a:srgbClr val="766363"/>
    <a:srgbClr val="FFF5EA"/>
    <a:srgbClr val="0032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86369"/>
  </p:normalViewPr>
  <p:slideViewPr>
    <p:cSldViewPr snapToGrid="0">
      <p:cViewPr varScale="1">
        <p:scale>
          <a:sx n="62" d="100"/>
          <a:sy n="62" d="100"/>
        </p:scale>
        <p:origin x="96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7/09/2023</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7/09/2023</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3</a:t>
            </a:fld>
            <a:endParaRPr lang="es-CO"/>
          </a:p>
        </p:txBody>
      </p:sp>
    </p:spTree>
    <p:extLst>
      <p:ext uri="{BB962C8B-B14F-4D97-AF65-F5344CB8AC3E}">
        <p14:creationId xmlns:p14="http://schemas.microsoft.com/office/powerpoint/2010/main" val="1737581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4</a:t>
            </a:fld>
            <a:endParaRPr lang="es-CO"/>
          </a:p>
        </p:txBody>
      </p:sp>
    </p:spTree>
    <p:extLst>
      <p:ext uri="{BB962C8B-B14F-4D97-AF65-F5344CB8AC3E}">
        <p14:creationId xmlns:p14="http://schemas.microsoft.com/office/powerpoint/2010/main" val="468235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5</a:t>
            </a:fld>
            <a:endParaRPr lang="es-CO"/>
          </a:p>
        </p:txBody>
      </p:sp>
    </p:spTree>
    <p:extLst>
      <p:ext uri="{BB962C8B-B14F-4D97-AF65-F5344CB8AC3E}">
        <p14:creationId xmlns:p14="http://schemas.microsoft.com/office/powerpoint/2010/main" val="2514435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6</a:t>
            </a:fld>
            <a:endParaRPr lang="es-CO"/>
          </a:p>
        </p:txBody>
      </p:sp>
    </p:spTree>
    <p:extLst>
      <p:ext uri="{BB962C8B-B14F-4D97-AF65-F5344CB8AC3E}">
        <p14:creationId xmlns:p14="http://schemas.microsoft.com/office/powerpoint/2010/main" val="635966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7</a:t>
            </a:fld>
            <a:endParaRPr lang="es-CO"/>
          </a:p>
        </p:txBody>
      </p:sp>
    </p:spTree>
    <p:extLst>
      <p:ext uri="{BB962C8B-B14F-4D97-AF65-F5344CB8AC3E}">
        <p14:creationId xmlns:p14="http://schemas.microsoft.com/office/powerpoint/2010/main" val="1575441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8</a:t>
            </a:fld>
            <a:endParaRPr lang="es-CO"/>
          </a:p>
        </p:txBody>
      </p:sp>
    </p:spTree>
    <p:extLst>
      <p:ext uri="{BB962C8B-B14F-4D97-AF65-F5344CB8AC3E}">
        <p14:creationId xmlns:p14="http://schemas.microsoft.com/office/powerpoint/2010/main" val="2889338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9</a:t>
            </a:fld>
            <a:endParaRPr lang="es-CO"/>
          </a:p>
        </p:txBody>
      </p:sp>
    </p:spTree>
    <p:extLst>
      <p:ext uri="{BB962C8B-B14F-4D97-AF65-F5344CB8AC3E}">
        <p14:creationId xmlns:p14="http://schemas.microsoft.com/office/powerpoint/2010/main" val="2182880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10</a:t>
            </a:fld>
            <a:endParaRPr lang="es-CO"/>
          </a:p>
        </p:txBody>
      </p:sp>
    </p:spTree>
    <p:extLst>
      <p:ext uri="{BB962C8B-B14F-4D97-AF65-F5344CB8AC3E}">
        <p14:creationId xmlns:p14="http://schemas.microsoft.com/office/powerpoint/2010/main" val="3519671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11</a:t>
            </a:fld>
            <a:endParaRPr lang="es-CO"/>
          </a:p>
        </p:txBody>
      </p:sp>
    </p:spTree>
    <p:extLst>
      <p:ext uri="{BB962C8B-B14F-4D97-AF65-F5344CB8AC3E}">
        <p14:creationId xmlns:p14="http://schemas.microsoft.com/office/powerpoint/2010/main" val="1197187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12</a:t>
            </a:fld>
            <a:endParaRPr lang="es-CO"/>
          </a:p>
        </p:txBody>
      </p:sp>
    </p:spTree>
    <p:extLst>
      <p:ext uri="{BB962C8B-B14F-4D97-AF65-F5344CB8AC3E}">
        <p14:creationId xmlns:p14="http://schemas.microsoft.com/office/powerpoint/2010/main" val="908662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13</a:t>
            </a:fld>
            <a:endParaRPr lang="es-CO"/>
          </a:p>
        </p:txBody>
      </p:sp>
    </p:spTree>
    <p:extLst>
      <p:ext uri="{BB962C8B-B14F-4D97-AF65-F5344CB8AC3E}">
        <p14:creationId xmlns:p14="http://schemas.microsoft.com/office/powerpoint/2010/main" val="915569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14</a:t>
            </a:fld>
            <a:endParaRPr lang="es-CO"/>
          </a:p>
        </p:txBody>
      </p:sp>
    </p:spTree>
    <p:extLst>
      <p:ext uri="{BB962C8B-B14F-4D97-AF65-F5344CB8AC3E}">
        <p14:creationId xmlns:p14="http://schemas.microsoft.com/office/powerpoint/2010/main" val="820251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15</a:t>
            </a:fld>
            <a:endParaRPr lang="es-CO"/>
          </a:p>
        </p:txBody>
      </p:sp>
    </p:spTree>
    <p:extLst>
      <p:ext uri="{BB962C8B-B14F-4D97-AF65-F5344CB8AC3E}">
        <p14:creationId xmlns:p14="http://schemas.microsoft.com/office/powerpoint/2010/main" val="3766454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16</a:t>
            </a:fld>
            <a:endParaRPr lang="es-CO"/>
          </a:p>
        </p:txBody>
      </p:sp>
    </p:spTree>
    <p:extLst>
      <p:ext uri="{BB962C8B-B14F-4D97-AF65-F5344CB8AC3E}">
        <p14:creationId xmlns:p14="http://schemas.microsoft.com/office/powerpoint/2010/main" val="564083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17</a:t>
            </a:fld>
            <a:endParaRPr lang="es-CO"/>
          </a:p>
        </p:txBody>
      </p:sp>
    </p:spTree>
    <p:extLst>
      <p:ext uri="{BB962C8B-B14F-4D97-AF65-F5344CB8AC3E}">
        <p14:creationId xmlns:p14="http://schemas.microsoft.com/office/powerpoint/2010/main" val="2938410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18</a:t>
            </a:fld>
            <a:endParaRPr lang="es-CO"/>
          </a:p>
        </p:txBody>
      </p:sp>
    </p:spTree>
    <p:extLst>
      <p:ext uri="{BB962C8B-B14F-4D97-AF65-F5344CB8AC3E}">
        <p14:creationId xmlns:p14="http://schemas.microsoft.com/office/powerpoint/2010/main" val="1768762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19</a:t>
            </a:fld>
            <a:endParaRPr lang="es-CO"/>
          </a:p>
        </p:txBody>
      </p:sp>
    </p:spTree>
    <p:extLst>
      <p:ext uri="{BB962C8B-B14F-4D97-AF65-F5344CB8AC3E}">
        <p14:creationId xmlns:p14="http://schemas.microsoft.com/office/powerpoint/2010/main" val="2967573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20</a:t>
            </a:fld>
            <a:endParaRPr lang="es-CO"/>
          </a:p>
        </p:txBody>
      </p:sp>
    </p:spTree>
    <p:extLst>
      <p:ext uri="{BB962C8B-B14F-4D97-AF65-F5344CB8AC3E}">
        <p14:creationId xmlns:p14="http://schemas.microsoft.com/office/powerpoint/2010/main" val="34920003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21</a:t>
            </a:fld>
            <a:endParaRPr lang="es-CO"/>
          </a:p>
        </p:txBody>
      </p:sp>
    </p:spTree>
    <p:extLst>
      <p:ext uri="{BB962C8B-B14F-4D97-AF65-F5344CB8AC3E}">
        <p14:creationId xmlns:p14="http://schemas.microsoft.com/office/powerpoint/2010/main" val="1007149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22</a:t>
            </a:fld>
            <a:endParaRPr lang="es-CO"/>
          </a:p>
        </p:txBody>
      </p:sp>
    </p:spTree>
    <p:extLst>
      <p:ext uri="{BB962C8B-B14F-4D97-AF65-F5344CB8AC3E}">
        <p14:creationId xmlns:p14="http://schemas.microsoft.com/office/powerpoint/2010/main" val="2834460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23</a:t>
            </a:fld>
            <a:endParaRPr lang="es-CO"/>
          </a:p>
        </p:txBody>
      </p:sp>
    </p:spTree>
    <p:extLst>
      <p:ext uri="{BB962C8B-B14F-4D97-AF65-F5344CB8AC3E}">
        <p14:creationId xmlns:p14="http://schemas.microsoft.com/office/powerpoint/2010/main" val="2796991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7/09/2023</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7/09/2023</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yoeV4Ex8C8U"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www.youtube.com/watch?v=knVwokXITGI&amp;t=1022s"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MRmmPJId5-k&amp;t=39s" TargetMode="External"/><Relationship Id="rId7" Type="http://schemas.openxmlformats.org/officeDocument/2006/relationships/hyperlink" Target="https://www.youtube.com/watch?v=TKuxYHb-Hvc"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hyperlink" Target="https://www.youtube.com/watch?v=G--gVr9eEcA" TargetMode="External"/><Relationship Id="rId5" Type="http://schemas.openxmlformats.org/officeDocument/2006/relationships/hyperlink" Target="https://www.youtube.com/watch?v=u2bXiPJf9oQ&amp;t=6s" TargetMode="External"/><Relationship Id="rId4" Type="http://schemas.openxmlformats.org/officeDocument/2006/relationships/hyperlink" Target="https://www.youtube.com/watch?v=yoeV4Ex8C8U"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213446" y="2684174"/>
            <a:ext cx="9765107" cy="1923604"/>
          </a:xfrm>
          <a:prstGeom prst="rect">
            <a:avLst/>
          </a:prstGeom>
          <a:noFill/>
        </p:spPr>
        <p:txBody>
          <a:bodyPr wrap="square" rtlCol="0">
            <a:spAutoFit/>
          </a:bodyPr>
          <a:lstStyle/>
          <a:p>
            <a:pPr algn="ctr"/>
            <a:r>
              <a:rPr lang="es-CO" sz="5400" b="1" dirty="0"/>
              <a:t>MODELADO DE DATOS</a:t>
            </a:r>
            <a:endParaRPr lang="es-ES" sz="5400" b="1" dirty="0">
              <a:solidFill>
                <a:srgbClr val="5E5C5D"/>
              </a:solidFill>
              <a:cs typeface="Calibri"/>
            </a:endParaRPr>
          </a:p>
          <a:p>
            <a:pPr algn="ctr"/>
            <a:endParaRPr lang="es-CO" sz="1100" b="1" dirty="0">
              <a:solidFill>
                <a:schemeClr val="tx1">
                  <a:lumMod val="75000"/>
                  <a:lumOff val="25000"/>
                </a:schemeClr>
              </a:solidFill>
              <a:latin typeface="Work Sans" pitchFamily="2" charset="77"/>
            </a:endParaRPr>
          </a:p>
          <a:p>
            <a:pPr algn="ctr"/>
            <a:endParaRPr lang="es-ES" sz="5400" b="1" dirty="0">
              <a:solidFill>
                <a:schemeClr val="tx1">
                  <a:lumMod val="75000"/>
                  <a:lumOff val="25000"/>
                </a:schemeClr>
              </a:solidFill>
              <a:latin typeface="Work Sans" pitchFamily="2" charset="77"/>
            </a:endParaRP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9" name="CuadroTexto 8">
            <a:extLst>
              <a:ext uri="{FF2B5EF4-FFF2-40B4-BE49-F238E27FC236}">
                <a16:creationId xmlns:a16="http://schemas.microsoft.com/office/drawing/2014/main" id="{AACEAAE1-8A42-1167-1705-12981FCD1B38}"/>
              </a:ext>
            </a:extLst>
          </p:cNvPr>
          <p:cNvSpPr txBox="1"/>
          <p:nvPr/>
        </p:nvSpPr>
        <p:spPr>
          <a:xfrm>
            <a:off x="4796810" y="1692318"/>
            <a:ext cx="1558440" cy="830997"/>
          </a:xfrm>
          <a:prstGeom prst="rect">
            <a:avLst/>
          </a:prstGeom>
          <a:noFill/>
        </p:spPr>
        <p:txBody>
          <a:bodyPr wrap="none" rtlCol="0">
            <a:spAutoFit/>
          </a:bodyPr>
          <a:lstStyle/>
          <a:p>
            <a:r>
              <a:rPr lang="es-MX" sz="2400" b="1" dirty="0">
                <a:solidFill>
                  <a:srgbClr val="000000"/>
                </a:solidFill>
                <a:latin typeface="Montserrat" panose="00000500000000000000" pitchFamily="2" charset="0"/>
              </a:rPr>
              <a:t>Objetivo</a:t>
            </a:r>
            <a:endParaRPr lang="es-MX" sz="2400" b="1" i="0" dirty="0">
              <a:solidFill>
                <a:srgbClr val="000000"/>
              </a:solidFill>
              <a:effectLst/>
              <a:latin typeface="Montserrat" panose="00000500000000000000" pitchFamily="2" charset="0"/>
            </a:endParaRPr>
          </a:p>
          <a:p>
            <a:endParaRPr lang="es-CO" sz="2400" b="1" dirty="0"/>
          </a:p>
        </p:txBody>
      </p:sp>
      <p:sp>
        <p:nvSpPr>
          <p:cNvPr id="4" name="CuadroTexto 3">
            <a:extLst>
              <a:ext uri="{FF2B5EF4-FFF2-40B4-BE49-F238E27FC236}">
                <a16:creationId xmlns:a16="http://schemas.microsoft.com/office/drawing/2014/main" id="{39279F46-7F59-C876-EE45-8083077B4D5A}"/>
              </a:ext>
            </a:extLst>
          </p:cNvPr>
          <p:cNvSpPr txBox="1"/>
          <p:nvPr/>
        </p:nvSpPr>
        <p:spPr>
          <a:xfrm>
            <a:off x="181595" y="2523315"/>
            <a:ext cx="11306418" cy="1569660"/>
          </a:xfrm>
          <a:prstGeom prst="rect">
            <a:avLst/>
          </a:prstGeom>
          <a:noFill/>
        </p:spPr>
        <p:txBody>
          <a:bodyPr wrap="square" rtlCol="0">
            <a:spAutoFit/>
          </a:bodyPr>
          <a:lstStyle/>
          <a:p>
            <a:r>
              <a:rPr lang="es-CO" sz="2400" dirty="0">
                <a:solidFill>
                  <a:srgbClr val="000000"/>
                </a:solidFill>
                <a:latin typeface="Montserrat" panose="00000500000000000000" pitchFamily="2" charset="0"/>
              </a:rPr>
              <a:t>Conocer los conceptos y metodologías como estándar para el  modelado de base de datos</a:t>
            </a:r>
            <a:endParaRPr lang="es-ES" sz="2400" dirty="0">
              <a:solidFill>
                <a:srgbClr val="000000"/>
              </a:solidFill>
              <a:latin typeface="Montserrat" panose="00000500000000000000" pitchFamily="2" charset="0"/>
            </a:endParaRPr>
          </a:p>
          <a:p>
            <a:br>
              <a:rPr lang="es-MX" sz="2400" b="0" i="0" dirty="0">
                <a:solidFill>
                  <a:srgbClr val="000000"/>
                </a:solidFill>
                <a:effectLst/>
                <a:latin typeface="Montserrat" panose="00000500000000000000" pitchFamily="2" charset="0"/>
              </a:rPr>
            </a:br>
            <a:endParaRPr lang="es-CO" sz="2400" dirty="0"/>
          </a:p>
        </p:txBody>
      </p:sp>
    </p:spTree>
    <p:extLst>
      <p:ext uri="{BB962C8B-B14F-4D97-AF65-F5344CB8AC3E}">
        <p14:creationId xmlns:p14="http://schemas.microsoft.com/office/powerpoint/2010/main" val="287488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9" name="CuadroTexto 8">
            <a:extLst>
              <a:ext uri="{FF2B5EF4-FFF2-40B4-BE49-F238E27FC236}">
                <a16:creationId xmlns:a16="http://schemas.microsoft.com/office/drawing/2014/main" id="{AACEAAE1-8A42-1167-1705-12981FCD1B38}"/>
              </a:ext>
            </a:extLst>
          </p:cNvPr>
          <p:cNvSpPr txBox="1"/>
          <p:nvPr/>
        </p:nvSpPr>
        <p:spPr>
          <a:xfrm>
            <a:off x="181595" y="1508920"/>
            <a:ext cx="2658100" cy="461665"/>
          </a:xfrm>
          <a:prstGeom prst="rect">
            <a:avLst/>
          </a:prstGeom>
          <a:noFill/>
        </p:spPr>
        <p:txBody>
          <a:bodyPr wrap="none" rtlCol="0">
            <a:spAutoFit/>
          </a:bodyPr>
          <a:lstStyle/>
          <a:p>
            <a:r>
              <a:rPr lang="es-MX" sz="2400" b="1" i="0" dirty="0">
                <a:solidFill>
                  <a:srgbClr val="000000"/>
                </a:solidFill>
                <a:effectLst/>
                <a:latin typeface="Montserrat" panose="00000500000000000000" pitchFamily="2" charset="0"/>
              </a:rPr>
              <a:t>Base de Datos :</a:t>
            </a:r>
            <a:endParaRPr lang="es-CO" sz="2400" b="1" dirty="0"/>
          </a:p>
        </p:txBody>
      </p:sp>
      <p:sp>
        <p:nvSpPr>
          <p:cNvPr id="4" name="CuadroTexto 3">
            <a:extLst>
              <a:ext uri="{FF2B5EF4-FFF2-40B4-BE49-F238E27FC236}">
                <a16:creationId xmlns:a16="http://schemas.microsoft.com/office/drawing/2014/main" id="{39279F46-7F59-C876-EE45-8083077B4D5A}"/>
              </a:ext>
            </a:extLst>
          </p:cNvPr>
          <p:cNvSpPr txBox="1"/>
          <p:nvPr/>
        </p:nvSpPr>
        <p:spPr>
          <a:xfrm>
            <a:off x="181594" y="1988296"/>
            <a:ext cx="12010405" cy="4524315"/>
          </a:xfrm>
          <a:prstGeom prst="rect">
            <a:avLst/>
          </a:prstGeom>
          <a:noFill/>
        </p:spPr>
        <p:txBody>
          <a:bodyPr wrap="square" rtlCol="0">
            <a:spAutoFit/>
          </a:bodyPr>
          <a:lstStyle/>
          <a:p>
            <a:pPr algn="just"/>
            <a:r>
              <a:rPr lang="es-CO" sz="2400" dirty="0">
                <a:solidFill>
                  <a:srgbClr val="000000"/>
                </a:solidFill>
                <a:latin typeface="Montserrat" panose="00000500000000000000" pitchFamily="2" charset="0"/>
              </a:rPr>
              <a:t>Todas las empresas requieren almacenar información y siempre lo han hecho, la información puede ser de todo tipo. Cada elemento informativo (nombre, dirección, sueldo, etc.) es lo que se conoce como dato (en inglés data).</a:t>
            </a:r>
          </a:p>
          <a:p>
            <a:pPr algn="just"/>
            <a:r>
              <a:rPr lang="es-CO" sz="2400" b="1" dirty="0">
                <a:solidFill>
                  <a:srgbClr val="000000"/>
                </a:solidFill>
                <a:latin typeface="Montserrat" panose="00000500000000000000" pitchFamily="2" charset="0"/>
              </a:rPr>
              <a:t>Definición:</a:t>
            </a:r>
          </a:p>
          <a:p>
            <a:pPr algn="just"/>
            <a:r>
              <a:rPr lang="es-CO" sz="2400" dirty="0">
                <a:solidFill>
                  <a:srgbClr val="000000"/>
                </a:solidFill>
                <a:latin typeface="Montserrat" panose="00000500000000000000" pitchFamily="2" charset="0"/>
              </a:rPr>
              <a:t>Entendemos como Base de Datos un conjunto de datos estructurado y almacenado de forma sistemática con objeto de facilitar su posterior utilización. Una base de datos puede,  por tanto, constituirse con cualquier tipo de datos, incluyendo los de tipo puramente espacial (geometrías, etc.)</a:t>
            </a:r>
          </a:p>
          <a:p>
            <a:pPr algn="just"/>
            <a:endParaRPr lang="es-CO" sz="2400" b="1" dirty="0">
              <a:hlinkClick r:id="rId3"/>
            </a:endParaRPr>
          </a:p>
          <a:p>
            <a:pPr algn="just"/>
            <a:r>
              <a:rPr lang="es-CO" sz="2400" b="1" dirty="0">
                <a:hlinkClick r:id="rId3"/>
              </a:rPr>
              <a:t>https://www.youtube.com/watch?v=yoeV4Ex8C8U</a:t>
            </a:r>
            <a:endParaRPr lang="es-CO" sz="2400" b="1" dirty="0">
              <a:solidFill>
                <a:srgbClr val="000000"/>
              </a:solidFill>
              <a:latin typeface="Montserrat" panose="00000500000000000000" pitchFamily="2" charset="0"/>
            </a:endParaRPr>
          </a:p>
          <a:p>
            <a:pPr algn="just"/>
            <a:r>
              <a:rPr lang="es-CO" sz="2400" dirty="0">
                <a:hlinkClick r:id="rId4"/>
              </a:rPr>
              <a:t>https://www.youtube.com/watch?v=knVwokXITGI&amp;t=1022s</a:t>
            </a:r>
            <a:endParaRPr lang="es-CO" sz="2400" dirty="0"/>
          </a:p>
        </p:txBody>
      </p:sp>
    </p:spTree>
    <p:extLst>
      <p:ext uri="{BB962C8B-B14F-4D97-AF65-F5344CB8AC3E}">
        <p14:creationId xmlns:p14="http://schemas.microsoft.com/office/powerpoint/2010/main" val="3207223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9" name="CuadroTexto 8">
            <a:extLst>
              <a:ext uri="{FF2B5EF4-FFF2-40B4-BE49-F238E27FC236}">
                <a16:creationId xmlns:a16="http://schemas.microsoft.com/office/drawing/2014/main" id="{AACEAAE1-8A42-1167-1705-12981FCD1B38}"/>
              </a:ext>
            </a:extLst>
          </p:cNvPr>
          <p:cNvSpPr txBox="1"/>
          <p:nvPr/>
        </p:nvSpPr>
        <p:spPr>
          <a:xfrm>
            <a:off x="72030" y="1572797"/>
            <a:ext cx="8646541" cy="830997"/>
          </a:xfrm>
          <a:prstGeom prst="rect">
            <a:avLst/>
          </a:prstGeom>
          <a:noFill/>
        </p:spPr>
        <p:txBody>
          <a:bodyPr wrap="square" rtlCol="0">
            <a:spAutoFit/>
          </a:bodyPr>
          <a:lstStyle/>
          <a:p>
            <a:r>
              <a:rPr lang="es-ES" sz="2400" b="1" dirty="0">
                <a:solidFill>
                  <a:srgbClr val="000000"/>
                </a:solidFill>
                <a:latin typeface="Montserrat" panose="00000500000000000000" pitchFamily="2" charset="0"/>
              </a:rPr>
              <a:t>Historia del Modelado:</a:t>
            </a:r>
          </a:p>
          <a:p>
            <a:endParaRPr lang="es-CO" sz="2400" b="1" dirty="0"/>
          </a:p>
        </p:txBody>
      </p:sp>
      <p:sp>
        <p:nvSpPr>
          <p:cNvPr id="4" name="CuadroTexto 3">
            <a:extLst>
              <a:ext uri="{FF2B5EF4-FFF2-40B4-BE49-F238E27FC236}">
                <a16:creationId xmlns:a16="http://schemas.microsoft.com/office/drawing/2014/main" id="{39279F46-7F59-C876-EE45-8083077B4D5A}"/>
              </a:ext>
            </a:extLst>
          </p:cNvPr>
          <p:cNvSpPr txBox="1"/>
          <p:nvPr/>
        </p:nvSpPr>
        <p:spPr>
          <a:xfrm>
            <a:off x="72030" y="1822717"/>
            <a:ext cx="11755033" cy="5262979"/>
          </a:xfrm>
          <a:prstGeom prst="rect">
            <a:avLst/>
          </a:prstGeom>
          <a:noFill/>
        </p:spPr>
        <p:txBody>
          <a:bodyPr wrap="square" rtlCol="0">
            <a:spAutoFit/>
          </a:bodyPr>
          <a:lstStyle/>
          <a:p>
            <a:pPr algn="just"/>
            <a:endParaRPr lang="es-CO" sz="2400" dirty="0">
              <a:solidFill>
                <a:srgbClr val="000000"/>
              </a:solidFill>
              <a:latin typeface="Montserrat" panose="00000500000000000000" pitchFamily="2" charset="0"/>
            </a:endParaRPr>
          </a:p>
          <a:p>
            <a:pPr algn="just"/>
            <a:r>
              <a:rPr lang="es-CO" sz="2400" dirty="0">
                <a:solidFill>
                  <a:srgbClr val="000000"/>
                </a:solidFill>
                <a:latin typeface="Montserrat" panose="00000500000000000000" pitchFamily="2" charset="0"/>
              </a:rPr>
              <a:t>Fue ideado por Peter Chen en los años 1976 y 1977 a través de dos artículos. Se trata de un modelo que sirve para crear esquemas conceptuales de bases de datos. De hecho es prácticamente un estándar para crear esta tarea.</a:t>
            </a:r>
          </a:p>
          <a:p>
            <a:pPr algn="just"/>
            <a:endParaRPr lang="es-CO" sz="2400" dirty="0">
              <a:solidFill>
                <a:srgbClr val="000000"/>
              </a:solidFill>
              <a:latin typeface="Montserrat" panose="00000500000000000000" pitchFamily="2" charset="0"/>
            </a:endParaRPr>
          </a:p>
          <a:p>
            <a:pPr algn="just"/>
            <a:r>
              <a:rPr lang="es-CO" sz="2400" dirty="0">
                <a:solidFill>
                  <a:srgbClr val="000000"/>
                </a:solidFill>
                <a:latin typeface="Montserrat" panose="00000500000000000000" pitchFamily="2" charset="0"/>
              </a:rPr>
              <a:t>Se le llama modelo E/R e incluso EI (Entidad / Interrelación). Sus siglas más populares son las E/R por que sirven para el inglés y el español.</a:t>
            </a:r>
          </a:p>
          <a:p>
            <a:pPr algn="just"/>
            <a:endParaRPr lang="es-CO" sz="2400" dirty="0">
              <a:solidFill>
                <a:srgbClr val="000000"/>
              </a:solidFill>
              <a:latin typeface="Montserrat" panose="00000500000000000000" pitchFamily="2" charset="0"/>
            </a:endParaRPr>
          </a:p>
          <a:p>
            <a:pPr algn="just"/>
            <a:r>
              <a:rPr lang="es-CO" sz="2400" dirty="0">
                <a:solidFill>
                  <a:srgbClr val="000000"/>
                </a:solidFill>
                <a:latin typeface="Montserrat" panose="00000500000000000000" pitchFamily="2" charset="0"/>
              </a:rPr>
              <a:t>Inicialmente (en la propuesta de Chen) sólo se incluían los conceptos de entidad, relación y atributos. Después se añadieron otras propuestas (atributos compuestos, generalizaciones,...) que forman el llamado modelo entidad relación extendido (se conoce con las siglas ERE).</a:t>
            </a:r>
          </a:p>
          <a:p>
            <a:pPr algn="just"/>
            <a:endParaRPr lang="es-CO" sz="2400" dirty="0"/>
          </a:p>
        </p:txBody>
      </p:sp>
    </p:spTree>
    <p:extLst>
      <p:ext uri="{BB962C8B-B14F-4D97-AF65-F5344CB8AC3E}">
        <p14:creationId xmlns:p14="http://schemas.microsoft.com/office/powerpoint/2010/main" val="2376287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9" name="CuadroTexto 8">
            <a:extLst>
              <a:ext uri="{FF2B5EF4-FFF2-40B4-BE49-F238E27FC236}">
                <a16:creationId xmlns:a16="http://schemas.microsoft.com/office/drawing/2014/main" id="{AACEAAE1-8A42-1167-1705-12981FCD1B38}"/>
              </a:ext>
            </a:extLst>
          </p:cNvPr>
          <p:cNvSpPr txBox="1"/>
          <p:nvPr/>
        </p:nvSpPr>
        <p:spPr>
          <a:xfrm>
            <a:off x="72030" y="1572797"/>
            <a:ext cx="8646541" cy="830997"/>
          </a:xfrm>
          <a:prstGeom prst="rect">
            <a:avLst/>
          </a:prstGeom>
          <a:noFill/>
        </p:spPr>
        <p:txBody>
          <a:bodyPr wrap="square" rtlCol="0">
            <a:spAutoFit/>
          </a:bodyPr>
          <a:lstStyle/>
          <a:p>
            <a:r>
              <a:rPr lang="es-ES" sz="2400" b="1" dirty="0">
                <a:solidFill>
                  <a:srgbClr val="000000"/>
                </a:solidFill>
                <a:latin typeface="Montserrat" panose="00000500000000000000" pitchFamily="2" charset="0"/>
              </a:rPr>
              <a:t>Metodología de Diseño de Bases de Datos</a:t>
            </a:r>
          </a:p>
          <a:p>
            <a:endParaRPr lang="es-CO" sz="2400" b="1" dirty="0"/>
          </a:p>
        </p:txBody>
      </p:sp>
      <p:sp>
        <p:nvSpPr>
          <p:cNvPr id="4" name="CuadroTexto 3">
            <a:extLst>
              <a:ext uri="{FF2B5EF4-FFF2-40B4-BE49-F238E27FC236}">
                <a16:creationId xmlns:a16="http://schemas.microsoft.com/office/drawing/2014/main" id="{39279F46-7F59-C876-EE45-8083077B4D5A}"/>
              </a:ext>
            </a:extLst>
          </p:cNvPr>
          <p:cNvSpPr txBox="1"/>
          <p:nvPr/>
        </p:nvSpPr>
        <p:spPr>
          <a:xfrm>
            <a:off x="72030" y="2599721"/>
            <a:ext cx="7391451" cy="3416320"/>
          </a:xfrm>
          <a:prstGeom prst="rect">
            <a:avLst/>
          </a:prstGeom>
          <a:noFill/>
        </p:spPr>
        <p:txBody>
          <a:bodyPr wrap="square" rtlCol="0">
            <a:spAutoFit/>
          </a:bodyPr>
          <a:lstStyle/>
          <a:p>
            <a:pPr marL="285750" indent="-285750">
              <a:buFont typeface="Wingdings" panose="05000000000000000000" pitchFamily="2" charset="2"/>
              <a:buChar char="Ø"/>
            </a:pPr>
            <a:r>
              <a:rPr lang="es-CO" sz="2400" dirty="0">
                <a:latin typeface="+mj-lt"/>
              </a:rPr>
              <a:t>Son modelos de datos de muy alto nivel.</a:t>
            </a:r>
          </a:p>
          <a:p>
            <a:pPr marL="285750" indent="-285750">
              <a:buFont typeface="Wingdings" panose="05000000000000000000" pitchFamily="2" charset="2"/>
              <a:buChar char="Ø"/>
            </a:pPr>
            <a:endParaRPr lang="es-CO" sz="2400" dirty="0">
              <a:latin typeface="+mj-lt"/>
            </a:endParaRPr>
          </a:p>
          <a:p>
            <a:pPr marL="285750" indent="-285750">
              <a:buFont typeface="Wingdings" panose="05000000000000000000" pitchFamily="2" charset="2"/>
              <a:buChar char="Ø"/>
            </a:pPr>
            <a:r>
              <a:rPr lang="es-CO" sz="2400" dirty="0">
                <a:latin typeface="+mj-lt"/>
              </a:rPr>
              <a:t>En general se concentran en las estructuras y restricciones de integridad.</a:t>
            </a:r>
          </a:p>
          <a:p>
            <a:pPr marL="285750" indent="-285750">
              <a:buFont typeface="Wingdings" panose="05000000000000000000" pitchFamily="2" charset="2"/>
              <a:buChar char="Ø"/>
            </a:pPr>
            <a:endParaRPr lang="es-CO" sz="2400" dirty="0">
              <a:latin typeface="+mj-lt"/>
            </a:endParaRPr>
          </a:p>
          <a:p>
            <a:pPr marL="285750" indent="-285750">
              <a:buFont typeface="Wingdings" panose="05000000000000000000" pitchFamily="2" charset="2"/>
              <a:buChar char="Ø"/>
            </a:pPr>
            <a:r>
              <a:rPr lang="es-CO" sz="2400" dirty="0">
                <a:latin typeface="+mj-lt"/>
              </a:rPr>
              <a:t>Suelen tener una representación gráfica asociada :</a:t>
            </a:r>
          </a:p>
          <a:p>
            <a:r>
              <a:rPr lang="es-CO" sz="2400" dirty="0">
                <a:latin typeface="+mj-lt"/>
              </a:rPr>
              <a:t>       Modelo Entidad-Relación (1976)</a:t>
            </a:r>
          </a:p>
          <a:p>
            <a:r>
              <a:rPr lang="es-CO" sz="2400" dirty="0">
                <a:latin typeface="+mj-lt"/>
              </a:rPr>
              <a:t>       Modelo ER Extendidos (80’s y 90’s)</a:t>
            </a:r>
          </a:p>
          <a:p>
            <a:endParaRPr lang="es-CO" sz="2400" dirty="0">
              <a:latin typeface="+mj-lt"/>
            </a:endParaRPr>
          </a:p>
        </p:txBody>
      </p:sp>
      <p:pic>
        <p:nvPicPr>
          <p:cNvPr id="3" name="Imagen 2">
            <a:extLst>
              <a:ext uri="{FF2B5EF4-FFF2-40B4-BE49-F238E27FC236}">
                <a16:creationId xmlns:a16="http://schemas.microsoft.com/office/drawing/2014/main" id="{5A9D58FF-EDFE-E1C7-2625-1F266E0288A4}"/>
              </a:ext>
            </a:extLst>
          </p:cNvPr>
          <p:cNvPicPr>
            <a:picLocks noChangeAspect="1"/>
          </p:cNvPicPr>
          <p:nvPr/>
        </p:nvPicPr>
        <p:blipFill>
          <a:blip r:embed="rId3"/>
          <a:stretch>
            <a:fillRect/>
          </a:stretch>
        </p:blipFill>
        <p:spPr>
          <a:xfrm>
            <a:off x="7463481" y="1572797"/>
            <a:ext cx="4505546" cy="4715015"/>
          </a:xfrm>
          <a:prstGeom prst="rect">
            <a:avLst/>
          </a:prstGeom>
        </p:spPr>
      </p:pic>
    </p:spTree>
    <p:extLst>
      <p:ext uri="{BB962C8B-B14F-4D97-AF65-F5344CB8AC3E}">
        <p14:creationId xmlns:p14="http://schemas.microsoft.com/office/powerpoint/2010/main" val="3245164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9" name="CuadroTexto 8">
            <a:extLst>
              <a:ext uri="{FF2B5EF4-FFF2-40B4-BE49-F238E27FC236}">
                <a16:creationId xmlns:a16="http://schemas.microsoft.com/office/drawing/2014/main" id="{AACEAAE1-8A42-1167-1705-12981FCD1B38}"/>
              </a:ext>
            </a:extLst>
          </p:cNvPr>
          <p:cNvSpPr txBox="1"/>
          <p:nvPr/>
        </p:nvSpPr>
        <p:spPr>
          <a:xfrm>
            <a:off x="72030" y="1572797"/>
            <a:ext cx="8646541" cy="830997"/>
          </a:xfrm>
          <a:prstGeom prst="rect">
            <a:avLst/>
          </a:prstGeom>
          <a:noFill/>
        </p:spPr>
        <p:txBody>
          <a:bodyPr wrap="square" rtlCol="0">
            <a:spAutoFit/>
          </a:bodyPr>
          <a:lstStyle/>
          <a:p>
            <a:r>
              <a:rPr lang="es-ES" sz="2400" b="1" dirty="0">
                <a:solidFill>
                  <a:srgbClr val="000000"/>
                </a:solidFill>
                <a:latin typeface="Montserrat" panose="00000500000000000000" pitchFamily="2" charset="0"/>
              </a:rPr>
              <a:t>Metodología de Diseño de Bases de Datos</a:t>
            </a:r>
          </a:p>
          <a:p>
            <a:endParaRPr lang="es-CO" sz="2400" b="1" dirty="0"/>
          </a:p>
        </p:txBody>
      </p:sp>
      <p:sp>
        <p:nvSpPr>
          <p:cNvPr id="4" name="CuadroTexto 3">
            <a:extLst>
              <a:ext uri="{FF2B5EF4-FFF2-40B4-BE49-F238E27FC236}">
                <a16:creationId xmlns:a16="http://schemas.microsoft.com/office/drawing/2014/main" id="{39279F46-7F59-C876-EE45-8083077B4D5A}"/>
              </a:ext>
            </a:extLst>
          </p:cNvPr>
          <p:cNvSpPr txBox="1"/>
          <p:nvPr/>
        </p:nvSpPr>
        <p:spPr>
          <a:xfrm>
            <a:off x="72030" y="2178995"/>
            <a:ext cx="11755033" cy="2308324"/>
          </a:xfrm>
          <a:prstGeom prst="rect">
            <a:avLst/>
          </a:prstGeom>
          <a:noFill/>
        </p:spPr>
        <p:txBody>
          <a:bodyPr wrap="square" rtlCol="0">
            <a:spAutoFit/>
          </a:bodyPr>
          <a:lstStyle/>
          <a:p>
            <a:r>
              <a:rPr lang="es-CO" sz="2400" b="1" i="1" dirty="0">
                <a:latin typeface="+mj-lt"/>
              </a:rPr>
              <a:t>MODELO ENTIDAD RELACIÓN :</a:t>
            </a:r>
          </a:p>
          <a:p>
            <a:endParaRPr lang="es-CO" sz="2400" b="1" i="1" dirty="0">
              <a:latin typeface="+mj-lt"/>
            </a:endParaRPr>
          </a:p>
          <a:p>
            <a:r>
              <a:rPr lang="es-CO" sz="2400" dirty="0">
                <a:latin typeface="+mj-lt"/>
              </a:rPr>
              <a:t>Técnica de análisis basada en la identificación de las </a:t>
            </a:r>
            <a:r>
              <a:rPr lang="es-CO" sz="2400" dirty="0">
                <a:solidFill>
                  <a:srgbClr val="FF0000"/>
                </a:solidFill>
                <a:latin typeface="+mj-lt"/>
              </a:rPr>
              <a:t>entidades</a:t>
            </a:r>
            <a:r>
              <a:rPr lang="es-CO" sz="2400" dirty="0">
                <a:latin typeface="+mj-lt"/>
              </a:rPr>
              <a:t> y de las relaciones que se dan entre ellas en la parte de realidad que pretendemos modelar.</a:t>
            </a:r>
          </a:p>
          <a:p>
            <a:endParaRPr lang="es-CO" sz="2400" dirty="0">
              <a:latin typeface="+mj-lt"/>
            </a:endParaRPr>
          </a:p>
          <a:p>
            <a:r>
              <a:rPr lang="es-CO" sz="2400" dirty="0"/>
              <a:t>Video: https://www.youtube.com/watch?v=MRmmPJId5-k</a:t>
            </a:r>
            <a:endParaRPr lang="es-CO" sz="2400" b="1" dirty="0">
              <a:solidFill>
                <a:srgbClr val="000000"/>
              </a:solidFill>
              <a:latin typeface="Montserrat" panose="00000500000000000000" pitchFamily="2" charset="0"/>
            </a:endParaRPr>
          </a:p>
        </p:txBody>
      </p:sp>
    </p:spTree>
    <p:extLst>
      <p:ext uri="{BB962C8B-B14F-4D97-AF65-F5344CB8AC3E}">
        <p14:creationId xmlns:p14="http://schemas.microsoft.com/office/powerpoint/2010/main" val="267699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9" name="CuadroTexto 8">
            <a:extLst>
              <a:ext uri="{FF2B5EF4-FFF2-40B4-BE49-F238E27FC236}">
                <a16:creationId xmlns:a16="http://schemas.microsoft.com/office/drawing/2014/main" id="{AACEAAE1-8A42-1167-1705-12981FCD1B38}"/>
              </a:ext>
            </a:extLst>
          </p:cNvPr>
          <p:cNvSpPr txBox="1"/>
          <p:nvPr/>
        </p:nvSpPr>
        <p:spPr>
          <a:xfrm>
            <a:off x="0" y="1513616"/>
            <a:ext cx="8646541" cy="461665"/>
          </a:xfrm>
          <a:prstGeom prst="rect">
            <a:avLst/>
          </a:prstGeom>
          <a:noFill/>
        </p:spPr>
        <p:txBody>
          <a:bodyPr wrap="square" rtlCol="0">
            <a:spAutoFit/>
          </a:bodyPr>
          <a:lstStyle/>
          <a:p>
            <a:r>
              <a:rPr lang="es-ES" sz="2400" b="1" dirty="0">
                <a:solidFill>
                  <a:srgbClr val="000000"/>
                </a:solidFill>
                <a:latin typeface="Montserrat" panose="00000500000000000000" pitchFamily="2" charset="0"/>
              </a:rPr>
              <a:t> Componentes del Modelo Entidad Relación :</a:t>
            </a:r>
            <a:endParaRPr lang="es-CO" sz="2400" b="1" dirty="0"/>
          </a:p>
        </p:txBody>
      </p:sp>
      <p:sp>
        <p:nvSpPr>
          <p:cNvPr id="4" name="CuadroTexto 3">
            <a:extLst>
              <a:ext uri="{FF2B5EF4-FFF2-40B4-BE49-F238E27FC236}">
                <a16:creationId xmlns:a16="http://schemas.microsoft.com/office/drawing/2014/main" id="{39279F46-7F59-C876-EE45-8083077B4D5A}"/>
              </a:ext>
            </a:extLst>
          </p:cNvPr>
          <p:cNvSpPr txBox="1"/>
          <p:nvPr/>
        </p:nvSpPr>
        <p:spPr>
          <a:xfrm>
            <a:off x="72030" y="2034462"/>
            <a:ext cx="11755033" cy="3785652"/>
          </a:xfrm>
          <a:prstGeom prst="rect">
            <a:avLst/>
          </a:prstGeom>
          <a:noFill/>
        </p:spPr>
        <p:txBody>
          <a:bodyPr wrap="square" rtlCol="0">
            <a:spAutoFit/>
          </a:bodyPr>
          <a:lstStyle/>
          <a:p>
            <a:r>
              <a:rPr lang="es-CO" sz="2400" b="1" dirty="0">
                <a:solidFill>
                  <a:srgbClr val="000000"/>
                </a:solidFill>
                <a:latin typeface="Montserrat" panose="00000500000000000000" pitchFamily="2" charset="0"/>
              </a:rPr>
              <a:t>Entidad </a:t>
            </a:r>
            <a:r>
              <a:rPr lang="es-CO" sz="2400" b="1" dirty="0">
                <a:latin typeface="+mj-lt"/>
              </a:rPr>
              <a:t>: </a:t>
            </a:r>
            <a:r>
              <a:rPr lang="es-CO" sz="2400" dirty="0">
                <a:latin typeface="+mj-lt"/>
              </a:rPr>
              <a:t>Se trata de cualquier objeto u elemento (real o abstracto) acerca del cual se pueda </a:t>
            </a:r>
            <a:r>
              <a:rPr lang="es-CO" sz="2400" dirty="0">
                <a:solidFill>
                  <a:srgbClr val="FF0000"/>
                </a:solidFill>
                <a:latin typeface="+mj-lt"/>
              </a:rPr>
              <a:t>almacenar información </a:t>
            </a:r>
            <a:r>
              <a:rPr lang="es-CO" sz="2400" dirty="0">
                <a:latin typeface="+mj-lt"/>
              </a:rPr>
              <a:t>en la base de datos. Ejemplos de entidades son Pedro, la factura número 32456, el coche matrícula 3452BCW.</a:t>
            </a:r>
          </a:p>
          <a:p>
            <a:endParaRPr lang="es-CO" sz="2400" dirty="0">
              <a:latin typeface="+mj-lt"/>
            </a:endParaRPr>
          </a:p>
          <a:p>
            <a:r>
              <a:rPr lang="es-CO" sz="2400" dirty="0">
                <a:latin typeface="+mj-lt"/>
              </a:rPr>
              <a:t>Una entidad no es un propiedad concreta sino un objeto que puede poseer </a:t>
            </a:r>
            <a:r>
              <a:rPr lang="es-CO" sz="2400" i="1" dirty="0">
                <a:latin typeface="+mj-lt"/>
              </a:rPr>
              <a:t>múltiples propiedades (atributos).</a:t>
            </a:r>
          </a:p>
          <a:p>
            <a:endParaRPr lang="es-CO" sz="2400" b="1" i="1" dirty="0">
              <a:solidFill>
                <a:srgbClr val="000000"/>
              </a:solidFill>
              <a:latin typeface="+mj-lt"/>
            </a:endParaRPr>
          </a:p>
          <a:p>
            <a:r>
              <a:rPr lang="es-CO" sz="2400" dirty="0">
                <a:latin typeface="+mj-lt"/>
              </a:rPr>
              <a:t>En el modelo entidad relación los conjuntos de entidades se representan con un rectángulo dentro del cual se escribe el nombre de la entidad:</a:t>
            </a:r>
          </a:p>
          <a:p>
            <a:endParaRPr lang="es-CO" sz="2400" b="1" dirty="0">
              <a:solidFill>
                <a:srgbClr val="000000"/>
              </a:solidFill>
              <a:latin typeface="Montserrat" panose="00000500000000000000" pitchFamily="2" charset="0"/>
            </a:endParaRPr>
          </a:p>
        </p:txBody>
      </p:sp>
      <p:pic>
        <p:nvPicPr>
          <p:cNvPr id="3" name="Imagen 2">
            <a:extLst>
              <a:ext uri="{FF2B5EF4-FFF2-40B4-BE49-F238E27FC236}">
                <a16:creationId xmlns:a16="http://schemas.microsoft.com/office/drawing/2014/main" id="{56C33E2D-FFD8-9DE6-7FB6-C9FEEC10FA69}"/>
              </a:ext>
            </a:extLst>
          </p:cNvPr>
          <p:cNvPicPr>
            <a:picLocks noChangeAspect="1"/>
          </p:cNvPicPr>
          <p:nvPr/>
        </p:nvPicPr>
        <p:blipFill>
          <a:blip r:embed="rId3"/>
          <a:stretch>
            <a:fillRect/>
          </a:stretch>
        </p:blipFill>
        <p:spPr>
          <a:xfrm>
            <a:off x="1885874" y="5543980"/>
            <a:ext cx="2140073" cy="717731"/>
          </a:xfrm>
          <a:prstGeom prst="rect">
            <a:avLst/>
          </a:prstGeom>
        </p:spPr>
      </p:pic>
      <p:pic>
        <p:nvPicPr>
          <p:cNvPr id="5" name="Imagen 4">
            <a:extLst>
              <a:ext uri="{FF2B5EF4-FFF2-40B4-BE49-F238E27FC236}">
                <a16:creationId xmlns:a16="http://schemas.microsoft.com/office/drawing/2014/main" id="{1CE8D505-89E0-88E1-5DF8-3A34C19CBD73}"/>
              </a:ext>
            </a:extLst>
          </p:cNvPr>
          <p:cNvPicPr>
            <a:picLocks noChangeAspect="1"/>
          </p:cNvPicPr>
          <p:nvPr/>
        </p:nvPicPr>
        <p:blipFill>
          <a:blip r:embed="rId4"/>
          <a:stretch>
            <a:fillRect/>
          </a:stretch>
        </p:blipFill>
        <p:spPr>
          <a:xfrm>
            <a:off x="6491944" y="5104371"/>
            <a:ext cx="2597273" cy="1598939"/>
          </a:xfrm>
          <a:prstGeom prst="rect">
            <a:avLst/>
          </a:prstGeom>
        </p:spPr>
      </p:pic>
    </p:spTree>
    <p:extLst>
      <p:ext uri="{BB962C8B-B14F-4D97-AF65-F5344CB8AC3E}">
        <p14:creationId xmlns:p14="http://schemas.microsoft.com/office/powerpoint/2010/main" val="6774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9" name="CuadroTexto 8">
            <a:extLst>
              <a:ext uri="{FF2B5EF4-FFF2-40B4-BE49-F238E27FC236}">
                <a16:creationId xmlns:a16="http://schemas.microsoft.com/office/drawing/2014/main" id="{AACEAAE1-8A42-1167-1705-12981FCD1B38}"/>
              </a:ext>
            </a:extLst>
          </p:cNvPr>
          <p:cNvSpPr txBox="1"/>
          <p:nvPr/>
        </p:nvSpPr>
        <p:spPr>
          <a:xfrm>
            <a:off x="0" y="1513616"/>
            <a:ext cx="8646541" cy="461665"/>
          </a:xfrm>
          <a:prstGeom prst="rect">
            <a:avLst/>
          </a:prstGeom>
          <a:noFill/>
        </p:spPr>
        <p:txBody>
          <a:bodyPr wrap="square" rtlCol="0">
            <a:spAutoFit/>
          </a:bodyPr>
          <a:lstStyle/>
          <a:p>
            <a:r>
              <a:rPr lang="es-CO" sz="2400" b="1" dirty="0">
                <a:latin typeface="+mj-lt"/>
              </a:rPr>
              <a:t>Tipos de Entidades</a:t>
            </a:r>
            <a:r>
              <a:rPr lang="es-ES" sz="2400" b="1" dirty="0">
                <a:solidFill>
                  <a:srgbClr val="000000"/>
                </a:solidFill>
                <a:latin typeface="Montserrat" panose="00000500000000000000" pitchFamily="2" charset="0"/>
              </a:rPr>
              <a:t>:</a:t>
            </a:r>
            <a:endParaRPr lang="es-CO" sz="2400" b="1" dirty="0"/>
          </a:p>
        </p:txBody>
      </p:sp>
      <p:sp>
        <p:nvSpPr>
          <p:cNvPr id="4" name="CuadroTexto 3">
            <a:extLst>
              <a:ext uri="{FF2B5EF4-FFF2-40B4-BE49-F238E27FC236}">
                <a16:creationId xmlns:a16="http://schemas.microsoft.com/office/drawing/2014/main" id="{39279F46-7F59-C876-EE45-8083077B4D5A}"/>
              </a:ext>
            </a:extLst>
          </p:cNvPr>
          <p:cNvSpPr txBox="1"/>
          <p:nvPr/>
        </p:nvSpPr>
        <p:spPr>
          <a:xfrm>
            <a:off x="0" y="1975281"/>
            <a:ext cx="11755033" cy="3785652"/>
          </a:xfrm>
          <a:prstGeom prst="rect">
            <a:avLst/>
          </a:prstGeom>
          <a:noFill/>
        </p:spPr>
        <p:txBody>
          <a:bodyPr wrap="square" rtlCol="0">
            <a:spAutoFit/>
          </a:bodyPr>
          <a:lstStyle/>
          <a:p>
            <a:r>
              <a:rPr lang="es-CO" sz="2400" b="1" dirty="0">
                <a:latin typeface="+mj-lt"/>
              </a:rPr>
              <a:t>Regulares(fuertes). </a:t>
            </a:r>
            <a:r>
              <a:rPr lang="es-CO" sz="2400" dirty="0">
                <a:latin typeface="+mj-lt"/>
              </a:rPr>
              <a:t>Son las entidades normales que tienen existencia por sí mismas sin depender de otras. Su representación gráfica es la indicada arriba.</a:t>
            </a:r>
          </a:p>
          <a:p>
            <a:endParaRPr lang="es-CO" sz="2400" dirty="0">
              <a:latin typeface="+mj-lt"/>
            </a:endParaRPr>
          </a:p>
          <a:p>
            <a:endParaRPr lang="es-CO" sz="2400" dirty="0">
              <a:latin typeface="+mj-lt"/>
            </a:endParaRPr>
          </a:p>
          <a:p>
            <a:endParaRPr lang="es-CO" sz="2400" dirty="0">
              <a:latin typeface="+mj-lt"/>
            </a:endParaRPr>
          </a:p>
          <a:p>
            <a:endParaRPr lang="es-CO" sz="2400" dirty="0">
              <a:latin typeface="+mj-lt"/>
            </a:endParaRPr>
          </a:p>
          <a:p>
            <a:r>
              <a:rPr lang="es-CO" sz="2400" b="1" dirty="0">
                <a:latin typeface="+mj-lt"/>
              </a:rPr>
              <a:t>Débiles. </a:t>
            </a:r>
            <a:r>
              <a:rPr lang="es-CO" sz="2400" dirty="0">
                <a:latin typeface="+mj-lt"/>
              </a:rPr>
              <a:t>Su existencia depende de otras. Por ejemplo la entidad </a:t>
            </a:r>
            <a:r>
              <a:rPr lang="es-CO" sz="2400" b="1" dirty="0">
                <a:latin typeface="+mj-lt"/>
              </a:rPr>
              <a:t>tarea laboral </a:t>
            </a:r>
            <a:r>
              <a:rPr lang="es-CO" sz="2400" dirty="0">
                <a:latin typeface="+mj-lt"/>
              </a:rPr>
              <a:t>sólo podrá tener existencia si exista la persona que realiza la labor.</a:t>
            </a:r>
          </a:p>
          <a:p>
            <a:endParaRPr lang="es-CO" sz="2400" dirty="0">
              <a:latin typeface="+mj-lt"/>
            </a:endParaRPr>
          </a:p>
          <a:p>
            <a:endParaRPr lang="es-CO" sz="2400" b="1" dirty="0">
              <a:solidFill>
                <a:srgbClr val="000000"/>
              </a:solidFill>
              <a:latin typeface="Montserrat" panose="00000500000000000000" pitchFamily="2" charset="0"/>
            </a:endParaRPr>
          </a:p>
        </p:txBody>
      </p:sp>
      <p:pic>
        <p:nvPicPr>
          <p:cNvPr id="6" name="Imagen 5">
            <a:extLst>
              <a:ext uri="{FF2B5EF4-FFF2-40B4-BE49-F238E27FC236}">
                <a16:creationId xmlns:a16="http://schemas.microsoft.com/office/drawing/2014/main" id="{7776D629-F439-02DC-62E2-C203DF547E5E}"/>
              </a:ext>
            </a:extLst>
          </p:cNvPr>
          <p:cNvPicPr>
            <a:picLocks noChangeAspect="1"/>
          </p:cNvPicPr>
          <p:nvPr/>
        </p:nvPicPr>
        <p:blipFill>
          <a:blip r:embed="rId3"/>
          <a:stretch>
            <a:fillRect/>
          </a:stretch>
        </p:blipFill>
        <p:spPr>
          <a:xfrm>
            <a:off x="4501551" y="3046733"/>
            <a:ext cx="2148957" cy="764533"/>
          </a:xfrm>
          <a:prstGeom prst="rect">
            <a:avLst/>
          </a:prstGeom>
        </p:spPr>
      </p:pic>
      <p:pic>
        <p:nvPicPr>
          <p:cNvPr id="7" name="Imagen 6">
            <a:extLst>
              <a:ext uri="{FF2B5EF4-FFF2-40B4-BE49-F238E27FC236}">
                <a16:creationId xmlns:a16="http://schemas.microsoft.com/office/drawing/2014/main" id="{5AE7DE7A-A7A0-1F43-0D55-0ECBF6FD02EA}"/>
              </a:ext>
            </a:extLst>
          </p:cNvPr>
          <p:cNvPicPr>
            <a:picLocks noChangeAspect="1"/>
          </p:cNvPicPr>
          <p:nvPr/>
        </p:nvPicPr>
        <p:blipFill>
          <a:blip r:embed="rId4"/>
          <a:stretch>
            <a:fillRect/>
          </a:stretch>
        </p:blipFill>
        <p:spPr>
          <a:xfrm>
            <a:off x="3667717" y="5364094"/>
            <a:ext cx="4419597" cy="914448"/>
          </a:xfrm>
          <a:prstGeom prst="rect">
            <a:avLst/>
          </a:prstGeom>
        </p:spPr>
      </p:pic>
    </p:spTree>
    <p:extLst>
      <p:ext uri="{BB962C8B-B14F-4D97-AF65-F5344CB8AC3E}">
        <p14:creationId xmlns:p14="http://schemas.microsoft.com/office/powerpoint/2010/main" val="2076860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3" name="CuadroTexto 2">
            <a:extLst>
              <a:ext uri="{FF2B5EF4-FFF2-40B4-BE49-F238E27FC236}">
                <a16:creationId xmlns:a16="http://schemas.microsoft.com/office/drawing/2014/main" id="{55839715-8E34-4FAC-228A-AD9185EB60C0}"/>
              </a:ext>
            </a:extLst>
          </p:cNvPr>
          <p:cNvSpPr txBox="1"/>
          <p:nvPr/>
        </p:nvSpPr>
        <p:spPr>
          <a:xfrm>
            <a:off x="0" y="1442952"/>
            <a:ext cx="11430000" cy="1938992"/>
          </a:xfrm>
          <a:prstGeom prst="rect">
            <a:avLst/>
          </a:prstGeom>
          <a:noFill/>
        </p:spPr>
        <p:txBody>
          <a:bodyPr wrap="square" rtlCol="0">
            <a:spAutoFit/>
          </a:bodyPr>
          <a:lstStyle/>
          <a:p>
            <a:r>
              <a:rPr lang="es-CO" sz="2400" b="1" dirty="0"/>
              <a:t>Relaciones:</a:t>
            </a:r>
          </a:p>
          <a:p>
            <a:pPr algn="just"/>
            <a:r>
              <a:rPr lang="es-CO" sz="2400" dirty="0"/>
              <a:t>Representan asociaciones entre entidades. Es el elemento del modelo que permite relacionar en sí los datos del modelo. Por ejemplo, en el caso de que tengamos una entidad personas y otra entidad trabajos. Ambas se realizan ya que las personas trabajan y los trabajos son realizados por personas:</a:t>
            </a:r>
            <a:endParaRPr lang="es-CO" sz="2400" b="1" dirty="0">
              <a:solidFill>
                <a:srgbClr val="5E5C5D"/>
              </a:solidFill>
              <a:cs typeface="Calibri"/>
            </a:endParaRPr>
          </a:p>
        </p:txBody>
      </p:sp>
      <p:sp>
        <p:nvSpPr>
          <p:cNvPr id="5" name="CuadroTexto 4">
            <a:extLst>
              <a:ext uri="{FF2B5EF4-FFF2-40B4-BE49-F238E27FC236}">
                <a16:creationId xmlns:a16="http://schemas.microsoft.com/office/drawing/2014/main" id="{CE6E6906-B1FC-7CA6-1EF2-48CE819953C5}"/>
              </a:ext>
            </a:extLst>
          </p:cNvPr>
          <p:cNvSpPr txBox="1"/>
          <p:nvPr/>
        </p:nvSpPr>
        <p:spPr>
          <a:xfrm>
            <a:off x="0" y="3381944"/>
            <a:ext cx="8046720" cy="2677656"/>
          </a:xfrm>
          <a:prstGeom prst="rect">
            <a:avLst/>
          </a:prstGeom>
          <a:noFill/>
        </p:spPr>
        <p:txBody>
          <a:bodyPr wrap="square" rtlCol="0">
            <a:spAutoFit/>
          </a:bodyPr>
          <a:lstStyle/>
          <a:p>
            <a:r>
              <a:rPr lang="es-CO" sz="2400" b="1" dirty="0"/>
              <a:t>Representación Gráfica:</a:t>
            </a:r>
          </a:p>
          <a:p>
            <a:endParaRPr lang="es-CO" sz="2400" b="1" dirty="0"/>
          </a:p>
          <a:p>
            <a:pPr algn="just"/>
            <a:r>
              <a:rPr lang="es-CO" sz="2400" dirty="0"/>
              <a:t>La representación gráfica de las entidades se realiza con un rombo al que se le unen líneas que se dirigen a las entidades, las relaciones tienen nombre (se suele usar un verbo). En el ejemplo anterior podría usarse como nombre de relación, trabajar.</a:t>
            </a:r>
            <a:endParaRPr lang="es-CO" sz="2400" b="1" dirty="0">
              <a:solidFill>
                <a:srgbClr val="5E5C5D"/>
              </a:solidFill>
              <a:cs typeface="Calibri"/>
            </a:endParaRPr>
          </a:p>
        </p:txBody>
      </p:sp>
      <p:pic>
        <p:nvPicPr>
          <p:cNvPr id="8" name="Imagen 7">
            <a:extLst>
              <a:ext uri="{FF2B5EF4-FFF2-40B4-BE49-F238E27FC236}">
                <a16:creationId xmlns:a16="http://schemas.microsoft.com/office/drawing/2014/main" id="{E0BDF9ED-F0AE-A056-AB6A-ABDC3D3EE913}"/>
              </a:ext>
            </a:extLst>
          </p:cNvPr>
          <p:cNvPicPr>
            <a:picLocks noChangeAspect="1"/>
          </p:cNvPicPr>
          <p:nvPr/>
        </p:nvPicPr>
        <p:blipFill>
          <a:blip r:embed="rId3"/>
          <a:stretch>
            <a:fillRect/>
          </a:stretch>
        </p:blipFill>
        <p:spPr>
          <a:xfrm>
            <a:off x="1704106" y="5651796"/>
            <a:ext cx="4638508" cy="1001046"/>
          </a:xfrm>
          <a:prstGeom prst="rect">
            <a:avLst/>
          </a:prstGeom>
        </p:spPr>
      </p:pic>
      <p:pic>
        <p:nvPicPr>
          <p:cNvPr id="10" name="Imagen 9">
            <a:extLst>
              <a:ext uri="{FF2B5EF4-FFF2-40B4-BE49-F238E27FC236}">
                <a16:creationId xmlns:a16="http://schemas.microsoft.com/office/drawing/2014/main" id="{BC5C9E4B-C5C8-A49F-2B39-88476D18808D}"/>
              </a:ext>
            </a:extLst>
          </p:cNvPr>
          <p:cNvPicPr>
            <a:picLocks noChangeAspect="1"/>
          </p:cNvPicPr>
          <p:nvPr/>
        </p:nvPicPr>
        <p:blipFill>
          <a:blip r:embed="rId4"/>
          <a:stretch>
            <a:fillRect/>
          </a:stretch>
        </p:blipFill>
        <p:spPr>
          <a:xfrm>
            <a:off x="8335745" y="3781258"/>
            <a:ext cx="3094255" cy="2371061"/>
          </a:xfrm>
          <a:prstGeom prst="rect">
            <a:avLst/>
          </a:prstGeom>
        </p:spPr>
      </p:pic>
    </p:spTree>
    <p:extLst>
      <p:ext uri="{BB962C8B-B14F-4D97-AF65-F5344CB8AC3E}">
        <p14:creationId xmlns:p14="http://schemas.microsoft.com/office/powerpoint/2010/main" val="1803042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4376ED5A-F058-E039-F7DB-642232C57DF2}"/>
              </a:ext>
            </a:extLst>
          </p:cNvPr>
          <p:cNvSpPr txBox="1"/>
          <p:nvPr/>
        </p:nvSpPr>
        <p:spPr>
          <a:xfrm>
            <a:off x="134112" y="1675473"/>
            <a:ext cx="5163671" cy="461665"/>
          </a:xfrm>
          <a:prstGeom prst="rect">
            <a:avLst/>
          </a:prstGeom>
          <a:noFill/>
        </p:spPr>
        <p:txBody>
          <a:bodyPr wrap="square" rtlCol="0">
            <a:spAutoFit/>
          </a:bodyPr>
          <a:lstStyle/>
          <a:p>
            <a:r>
              <a:rPr lang="es-CO" sz="2400" b="1" dirty="0"/>
              <a:t>Tipo de Relaciones (Cordialidad): </a:t>
            </a:r>
            <a:endParaRPr lang="es-CO" sz="2400" b="1" dirty="0">
              <a:solidFill>
                <a:srgbClr val="5E5C5D"/>
              </a:solidFill>
              <a:cs typeface="Calibri"/>
            </a:endParaRPr>
          </a:p>
        </p:txBody>
      </p:sp>
      <p:pic>
        <p:nvPicPr>
          <p:cNvPr id="6" name="Imagen 5">
            <a:extLst>
              <a:ext uri="{FF2B5EF4-FFF2-40B4-BE49-F238E27FC236}">
                <a16:creationId xmlns:a16="http://schemas.microsoft.com/office/drawing/2014/main" id="{8C852DCB-3E38-A68D-8A21-1ADE8432CAA8}"/>
              </a:ext>
            </a:extLst>
          </p:cNvPr>
          <p:cNvPicPr>
            <a:picLocks noChangeAspect="1"/>
          </p:cNvPicPr>
          <p:nvPr/>
        </p:nvPicPr>
        <p:blipFill>
          <a:blip r:embed="rId3"/>
          <a:stretch>
            <a:fillRect/>
          </a:stretch>
        </p:blipFill>
        <p:spPr>
          <a:xfrm>
            <a:off x="705880" y="2277822"/>
            <a:ext cx="4283979" cy="2001342"/>
          </a:xfrm>
          <a:prstGeom prst="rect">
            <a:avLst/>
          </a:prstGeom>
          <a:ln>
            <a:solidFill>
              <a:schemeClr val="accent1"/>
            </a:solidFill>
          </a:ln>
        </p:spPr>
      </p:pic>
      <p:pic>
        <p:nvPicPr>
          <p:cNvPr id="7" name="Imagen 6">
            <a:extLst>
              <a:ext uri="{FF2B5EF4-FFF2-40B4-BE49-F238E27FC236}">
                <a16:creationId xmlns:a16="http://schemas.microsoft.com/office/drawing/2014/main" id="{1B91A8B4-6B78-85F2-5227-57F703DD4629}"/>
              </a:ext>
            </a:extLst>
          </p:cNvPr>
          <p:cNvPicPr>
            <a:picLocks noChangeAspect="1"/>
          </p:cNvPicPr>
          <p:nvPr/>
        </p:nvPicPr>
        <p:blipFill>
          <a:blip r:embed="rId4"/>
          <a:stretch>
            <a:fillRect/>
          </a:stretch>
        </p:blipFill>
        <p:spPr>
          <a:xfrm>
            <a:off x="6701703" y="2228137"/>
            <a:ext cx="4336714" cy="2051027"/>
          </a:xfrm>
          <a:prstGeom prst="rect">
            <a:avLst/>
          </a:prstGeom>
          <a:ln>
            <a:solidFill>
              <a:schemeClr val="accent1"/>
            </a:solidFill>
          </a:ln>
        </p:spPr>
      </p:pic>
      <p:pic>
        <p:nvPicPr>
          <p:cNvPr id="9" name="Imagen 8">
            <a:extLst>
              <a:ext uri="{FF2B5EF4-FFF2-40B4-BE49-F238E27FC236}">
                <a16:creationId xmlns:a16="http://schemas.microsoft.com/office/drawing/2014/main" id="{62A994BC-B63C-433E-3977-B414A647EA44}"/>
              </a:ext>
            </a:extLst>
          </p:cNvPr>
          <p:cNvPicPr>
            <a:picLocks noChangeAspect="1"/>
          </p:cNvPicPr>
          <p:nvPr/>
        </p:nvPicPr>
        <p:blipFill>
          <a:blip r:embed="rId5"/>
          <a:stretch>
            <a:fillRect/>
          </a:stretch>
        </p:blipFill>
        <p:spPr>
          <a:xfrm>
            <a:off x="705881" y="4662474"/>
            <a:ext cx="4143106" cy="1892651"/>
          </a:xfrm>
          <a:prstGeom prst="rect">
            <a:avLst/>
          </a:prstGeom>
          <a:ln>
            <a:solidFill>
              <a:schemeClr val="accent1"/>
            </a:solidFill>
          </a:ln>
        </p:spPr>
      </p:pic>
      <p:pic>
        <p:nvPicPr>
          <p:cNvPr id="11" name="Imagen 10">
            <a:extLst>
              <a:ext uri="{FF2B5EF4-FFF2-40B4-BE49-F238E27FC236}">
                <a16:creationId xmlns:a16="http://schemas.microsoft.com/office/drawing/2014/main" id="{33AF573C-A9B7-75C1-AFDE-3C6E27B53BAB}"/>
              </a:ext>
            </a:extLst>
          </p:cNvPr>
          <p:cNvPicPr>
            <a:picLocks noChangeAspect="1"/>
          </p:cNvPicPr>
          <p:nvPr/>
        </p:nvPicPr>
        <p:blipFill>
          <a:blip r:embed="rId6"/>
          <a:stretch>
            <a:fillRect/>
          </a:stretch>
        </p:blipFill>
        <p:spPr>
          <a:xfrm>
            <a:off x="6701702" y="4639529"/>
            <a:ext cx="4485783" cy="2051027"/>
          </a:xfrm>
          <a:prstGeom prst="rect">
            <a:avLst/>
          </a:prstGeom>
          <a:ln>
            <a:solidFill>
              <a:schemeClr val="accent1"/>
            </a:solidFill>
          </a:ln>
        </p:spPr>
      </p:pic>
    </p:spTree>
    <p:extLst>
      <p:ext uri="{BB962C8B-B14F-4D97-AF65-F5344CB8AC3E}">
        <p14:creationId xmlns:p14="http://schemas.microsoft.com/office/powerpoint/2010/main" val="622022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4376ED5A-F058-E039-F7DB-642232C57DF2}"/>
              </a:ext>
            </a:extLst>
          </p:cNvPr>
          <p:cNvSpPr txBox="1"/>
          <p:nvPr/>
        </p:nvSpPr>
        <p:spPr>
          <a:xfrm>
            <a:off x="58505" y="1580223"/>
            <a:ext cx="11619738" cy="5262979"/>
          </a:xfrm>
          <a:prstGeom prst="rect">
            <a:avLst/>
          </a:prstGeom>
          <a:noFill/>
        </p:spPr>
        <p:txBody>
          <a:bodyPr wrap="square" rtlCol="0">
            <a:spAutoFit/>
          </a:bodyPr>
          <a:lstStyle/>
          <a:p>
            <a:r>
              <a:rPr lang="es-CO" sz="2400" b="1" dirty="0"/>
              <a:t>Ejemplo:</a:t>
            </a:r>
          </a:p>
          <a:p>
            <a:endParaRPr lang="es-CO" sz="2400" b="1" dirty="0"/>
          </a:p>
          <a:p>
            <a:r>
              <a:rPr lang="es-CO" sz="2400" b="1" dirty="0"/>
              <a:t>Encontrar las entidades y las relaciones del Modelo Entidad Relación a partir del siguiente enunciado:</a:t>
            </a:r>
          </a:p>
          <a:p>
            <a:pPr algn="just"/>
            <a:endParaRPr lang="es-CO" sz="2400" dirty="0"/>
          </a:p>
          <a:p>
            <a:pPr algn="just"/>
            <a:r>
              <a:rPr lang="es-CO" sz="2400" i="1" dirty="0"/>
              <a:t>Una </a:t>
            </a:r>
            <a:r>
              <a:rPr lang="es-CO" sz="2400" i="1" dirty="0">
                <a:highlight>
                  <a:srgbClr val="FFFF00"/>
                </a:highlight>
              </a:rPr>
              <a:t>empresa</a:t>
            </a:r>
            <a:r>
              <a:rPr lang="es-CO" sz="2400" i="1" dirty="0"/>
              <a:t> vende </a:t>
            </a:r>
            <a:r>
              <a:rPr lang="es-CO" sz="2400" i="1" dirty="0">
                <a:highlight>
                  <a:srgbClr val="FFFF00"/>
                </a:highlight>
              </a:rPr>
              <a:t>productos</a:t>
            </a:r>
            <a:r>
              <a:rPr lang="es-CO" sz="2400" i="1" dirty="0"/>
              <a:t> a varios </a:t>
            </a:r>
            <a:r>
              <a:rPr lang="es-CO" sz="2400" i="1" dirty="0">
                <a:highlight>
                  <a:srgbClr val="FFFF00"/>
                </a:highlight>
              </a:rPr>
              <a:t>clientes</a:t>
            </a:r>
            <a:r>
              <a:rPr lang="es-CO" sz="2400" i="1" dirty="0"/>
              <a:t>. Se necesita conocer los datos personales de los clientes (nombre, apellidos, </a:t>
            </a:r>
            <a:r>
              <a:rPr lang="es-CO" sz="2400" i="1" dirty="0" err="1"/>
              <a:t>dni</a:t>
            </a:r>
            <a:r>
              <a:rPr lang="es-CO" sz="2400" i="1" dirty="0"/>
              <a:t>, dirección y fecha de nacimiento). Cada producto tiene un nombre y un código, así como un precio unitario. Un cliente puede comprar varios productos a la empresa, y un mismo producto puede ser comprado por varios clientes.</a:t>
            </a:r>
          </a:p>
          <a:p>
            <a:pPr algn="just"/>
            <a:endParaRPr lang="es-CO" sz="2400" dirty="0"/>
          </a:p>
          <a:p>
            <a:pPr algn="just"/>
            <a:r>
              <a:rPr lang="es-CO" sz="2400" i="1" dirty="0"/>
              <a:t>Los productos son suministrados por diferentes proveedores. Se debe tener en cuenta que un producto sólo puede ser suministrado por un proveedor, y que un proveedor puede suministrar diferentes productos. De cada proveedor se desea conocer el NIF, nombre y dirección.</a:t>
            </a:r>
            <a:endParaRPr lang="es-CO" sz="2400" b="1" dirty="0">
              <a:cs typeface="Calibri"/>
            </a:endParaRPr>
          </a:p>
        </p:txBody>
      </p:sp>
    </p:spTree>
    <p:extLst>
      <p:ext uri="{BB962C8B-B14F-4D97-AF65-F5344CB8AC3E}">
        <p14:creationId xmlns:p14="http://schemas.microsoft.com/office/powerpoint/2010/main" val="2681332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6" name="CuadroTexto 5">
            <a:extLst>
              <a:ext uri="{FF2B5EF4-FFF2-40B4-BE49-F238E27FC236}">
                <a16:creationId xmlns:a16="http://schemas.microsoft.com/office/drawing/2014/main" id="{9C1E26CA-98CB-9755-2924-0CA0618AC4FC}"/>
              </a:ext>
            </a:extLst>
          </p:cNvPr>
          <p:cNvSpPr txBox="1"/>
          <p:nvPr/>
        </p:nvSpPr>
        <p:spPr>
          <a:xfrm>
            <a:off x="0" y="1860955"/>
            <a:ext cx="7278624" cy="4524315"/>
          </a:xfrm>
          <a:prstGeom prst="rect">
            <a:avLst/>
          </a:prstGeom>
          <a:noFill/>
        </p:spPr>
        <p:txBody>
          <a:bodyPr wrap="square" rtlCol="0">
            <a:spAutoFit/>
          </a:bodyPr>
          <a:lstStyle/>
          <a:p>
            <a:pPr algn="just"/>
            <a:r>
              <a:rPr lang="es-CO" sz="2400" b="1" dirty="0">
                <a:latin typeface="+mj-lt"/>
              </a:rPr>
              <a:t>Cardinalidad : </a:t>
            </a:r>
            <a:r>
              <a:rPr lang="es-CO" sz="2400" dirty="0">
                <a:latin typeface="+mj-lt"/>
              </a:rPr>
              <a:t>Indica el número de relaciones en las que una entidad puede aparecer. </a:t>
            </a:r>
          </a:p>
          <a:p>
            <a:pPr algn="just"/>
            <a:endParaRPr lang="es-CO" sz="2400" dirty="0">
              <a:latin typeface="+mj-lt"/>
            </a:endParaRPr>
          </a:p>
          <a:p>
            <a:pPr algn="just"/>
            <a:r>
              <a:rPr lang="es-CO" sz="2400" dirty="0">
                <a:latin typeface="+mj-lt"/>
              </a:rPr>
              <a:t>Se anota en términos de:</a:t>
            </a:r>
          </a:p>
          <a:p>
            <a:pPr algn="just"/>
            <a:endParaRPr lang="es-CO" sz="2400" dirty="0">
              <a:latin typeface="+mj-lt"/>
            </a:endParaRPr>
          </a:p>
          <a:p>
            <a:pPr algn="just"/>
            <a:r>
              <a:rPr lang="es-CO" sz="2400" b="1" dirty="0">
                <a:latin typeface="+mj-lt"/>
              </a:rPr>
              <a:t>Cardinalidad mínima: </a:t>
            </a:r>
            <a:r>
              <a:rPr lang="es-CO" sz="2400" dirty="0">
                <a:latin typeface="+mj-lt"/>
              </a:rPr>
              <a:t>Indica el número mínimo de asociaciones en las que aparecerá cada ejemplar de la entidad (el valor que se anota es de cero o uno)</a:t>
            </a:r>
          </a:p>
          <a:p>
            <a:pPr algn="just"/>
            <a:endParaRPr lang="es-CO" sz="2400" dirty="0">
              <a:latin typeface="+mj-lt"/>
            </a:endParaRPr>
          </a:p>
          <a:p>
            <a:pPr algn="just"/>
            <a:r>
              <a:rPr lang="es-CO" sz="2400" b="1" dirty="0">
                <a:latin typeface="+mj-lt"/>
              </a:rPr>
              <a:t>Cardinalidad máxima:  </a:t>
            </a:r>
            <a:r>
              <a:rPr lang="es-CO" sz="2400" dirty="0">
                <a:latin typeface="+mj-lt"/>
              </a:rPr>
              <a:t>Indica el número máximo de relaciones en las que puede aparecer cada ejemplar de la entidad (puede ser uno o muchos).</a:t>
            </a:r>
          </a:p>
        </p:txBody>
      </p:sp>
      <p:pic>
        <p:nvPicPr>
          <p:cNvPr id="7" name="Imagen 6">
            <a:extLst>
              <a:ext uri="{FF2B5EF4-FFF2-40B4-BE49-F238E27FC236}">
                <a16:creationId xmlns:a16="http://schemas.microsoft.com/office/drawing/2014/main" id="{D4393290-E94B-A80D-39E5-5CAB97482501}"/>
              </a:ext>
            </a:extLst>
          </p:cNvPr>
          <p:cNvPicPr>
            <a:picLocks noChangeAspect="1"/>
          </p:cNvPicPr>
          <p:nvPr/>
        </p:nvPicPr>
        <p:blipFill>
          <a:blip r:embed="rId3"/>
          <a:stretch>
            <a:fillRect/>
          </a:stretch>
        </p:blipFill>
        <p:spPr>
          <a:xfrm>
            <a:off x="7838147" y="2985603"/>
            <a:ext cx="3667578" cy="3095458"/>
          </a:xfrm>
          <a:prstGeom prst="rect">
            <a:avLst/>
          </a:prstGeom>
          <a:ln>
            <a:solidFill>
              <a:schemeClr val="accent1"/>
            </a:solidFill>
          </a:ln>
        </p:spPr>
      </p:pic>
      <p:sp>
        <p:nvSpPr>
          <p:cNvPr id="8" name="CuadroTexto 7">
            <a:extLst>
              <a:ext uri="{FF2B5EF4-FFF2-40B4-BE49-F238E27FC236}">
                <a16:creationId xmlns:a16="http://schemas.microsoft.com/office/drawing/2014/main" id="{4C4897AD-27BB-AA79-1A61-F9E8A9E67224}"/>
              </a:ext>
            </a:extLst>
          </p:cNvPr>
          <p:cNvSpPr txBox="1"/>
          <p:nvPr/>
        </p:nvSpPr>
        <p:spPr>
          <a:xfrm>
            <a:off x="7790172" y="1603759"/>
            <a:ext cx="3763529" cy="1015663"/>
          </a:xfrm>
          <a:prstGeom prst="rect">
            <a:avLst/>
          </a:prstGeom>
          <a:noFill/>
        </p:spPr>
        <p:txBody>
          <a:bodyPr wrap="square" rtlCol="0">
            <a:spAutoFit/>
          </a:bodyPr>
          <a:lstStyle/>
          <a:p>
            <a:pPr algn="just"/>
            <a:r>
              <a:rPr lang="es-CO" sz="2000" dirty="0"/>
              <a:t>En los esquemas entidad / relación la Cardinalidad se puede indicar de muchas formas.</a:t>
            </a:r>
            <a:endParaRPr lang="es-CO" sz="2000" b="1" dirty="0">
              <a:solidFill>
                <a:srgbClr val="5E5C5D"/>
              </a:solidFill>
              <a:cs typeface="Calibri"/>
            </a:endParaRPr>
          </a:p>
        </p:txBody>
      </p:sp>
    </p:spTree>
    <p:extLst>
      <p:ext uri="{BB962C8B-B14F-4D97-AF65-F5344CB8AC3E}">
        <p14:creationId xmlns:p14="http://schemas.microsoft.com/office/powerpoint/2010/main" val="720173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3" name="CuadroTexto 2">
            <a:extLst>
              <a:ext uri="{FF2B5EF4-FFF2-40B4-BE49-F238E27FC236}">
                <a16:creationId xmlns:a16="http://schemas.microsoft.com/office/drawing/2014/main" id="{341031A6-DC4D-6C71-877E-014C6F668A99}"/>
              </a:ext>
            </a:extLst>
          </p:cNvPr>
          <p:cNvSpPr txBox="1"/>
          <p:nvPr/>
        </p:nvSpPr>
        <p:spPr>
          <a:xfrm>
            <a:off x="160054" y="1671763"/>
            <a:ext cx="11525978" cy="2246769"/>
          </a:xfrm>
          <a:prstGeom prst="rect">
            <a:avLst/>
          </a:prstGeom>
          <a:noFill/>
        </p:spPr>
        <p:txBody>
          <a:bodyPr wrap="square" rtlCol="0">
            <a:spAutoFit/>
          </a:bodyPr>
          <a:lstStyle/>
          <a:p>
            <a:r>
              <a:rPr lang="es-CO" sz="2400" b="1" dirty="0"/>
              <a:t>Ejemplo: </a:t>
            </a:r>
          </a:p>
          <a:p>
            <a:endParaRPr lang="es-CO" sz="2400" b="1" dirty="0"/>
          </a:p>
          <a:p>
            <a:pPr algn="just"/>
            <a:r>
              <a:rPr lang="es-CO" sz="2400" dirty="0"/>
              <a:t>En el ejemplo, cada equipo cuanta con varios jugadores. un jugador juega como mucho en un equipo y podría no jugar en ninguno. Cada entrenador entrena a un equipo (podría no entrenar a ninguno), el cual tiene un solo entrenador.</a:t>
            </a:r>
          </a:p>
          <a:p>
            <a:endParaRPr lang="es-CO" sz="2000" b="1" dirty="0">
              <a:solidFill>
                <a:srgbClr val="5E5C5D"/>
              </a:solidFill>
              <a:cs typeface="Calibri"/>
            </a:endParaRPr>
          </a:p>
        </p:txBody>
      </p:sp>
      <p:pic>
        <p:nvPicPr>
          <p:cNvPr id="4" name="Imagen 3">
            <a:extLst>
              <a:ext uri="{FF2B5EF4-FFF2-40B4-BE49-F238E27FC236}">
                <a16:creationId xmlns:a16="http://schemas.microsoft.com/office/drawing/2014/main" id="{94CD31BF-0508-73F2-F0E6-EC647D70DB65}"/>
              </a:ext>
            </a:extLst>
          </p:cNvPr>
          <p:cNvPicPr>
            <a:picLocks noChangeAspect="1"/>
          </p:cNvPicPr>
          <p:nvPr/>
        </p:nvPicPr>
        <p:blipFill>
          <a:blip r:embed="rId3"/>
          <a:stretch>
            <a:fillRect/>
          </a:stretch>
        </p:blipFill>
        <p:spPr>
          <a:xfrm>
            <a:off x="2371379" y="3918532"/>
            <a:ext cx="6681181" cy="2317564"/>
          </a:xfrm>
          <a:prstGeom prst="rect">
            <a:avLst/>
          </a:prstGeom>
        </p:spPr>
      </p:pic>
      <p:cxnSp>
        <p:nvCxnSpPr>
          <p:cNvPr id="6" name="Conector recto 5">
            <a:extLst>
              <a:ext uri="{FF2B5EF4-FFF2-40B4-BE49-F238E27FC236}">
                <a16:creationId xmlns:a16="http://schemas.microsoft.com/office/drawing/2014/main" id="{387F6530-0B03-3871-F882-F3B768F68439}"/>
              </a:ext>
            </a:extLst>
          </p:cNvPr>
          <p:cNvCxnSpPr/>
          <p:nvPr/>
        </p:nvCxnSpPr>
        <p:spPr>
          <a:xfrm>
            <a:off x="4442460" y="4282440"/>
            <a:ext cx="0" cy="274320"/>
          </a:xfrm>
          <a:prstGeom prst="line">
            <a:avLst/>
          </a:prstGeom>
        </p:spPr>
        <p:style>
          <a:lnRef idx="1">
            <a:schemeClr val="dk1"/>
          </a:lnRef>
          <a:fillRef idx="0">
            <a:schemeClr val="dk1"/>
          </a:fillRef>
          <a:effectRef idx="0">
            <a:schemeClr val="dk1"/>
          </a:effectRef>
          <a:fontRef idx="minor">
            <a:schemeClr val="tx1"/>
          </a:fontRef>
        </p:style>
      </p:cxnSp>
      <p:cxnSp>
        <p:nvCxnSpPr>
          <p:cNvPr id="7" name="Conector recto 6">
            <a:extLst>
              <a:ext uri="{FF2B5EF4-FFF2-40B4-BE49-F238E27FC236}">
                <a16:creationId xmlns:a16="http://schemas.microsoft.com/office/drawing/2014/main" id="{C3B27322-E4F3-F4FB-B40C-3CAFD4E5F841}"/>
              </a:ext>
            </a:extLst>
          </p:cNvPr>
          <p:cNvCxnSpPr>
            <a:cxnSpLocks/>
          </p:cNvCxnSpPr>
          <p:nvPr/>
        </p:nvCxnSpPr>
        <p:spPr>
          <a:xfrm>
            <a:off x="7239000" y="4137660"/>
            <a:ext cx="1485900" cy="0"/>
          </a:xfrm>
          <a:prstGeom prst="line">
            <a:avLst/>
          </a:prstGeom>
        </p:spPr>
        <p:style>
          <a:lnRef idx="1">
            <a:schemeClr val="dk1"/>
          </a:lnRef>
          <a:fillRef idx="0">
            <a:schemeClr val="dk1"/>
          </a:fillRef>
          <a:effectRef idx="0">
            <a:schemeClr val="dk1"/>
          </a:effectRef>
          <a:fontRef idx="minor">
            <a:schemeClr val="tx1"/>
          </a:fontRef>
        </p:style>
      </p:cxnSp>
      <p:cxnSp>
        <p:nvCxnSpPr>
          <p:cNvPr id="11" name="Conector recto 10">
            <a:extLst>
              <a:ext uri="{FF2B5EF4-FFF2-40B4-BE49-F238E27FC236}">
                <a16:creationId xmlns:a16="http://schemas.microsoft.com/office/drawing/2014/main" id="{D9A8F04A-CB6D-FA17-846B-A70FED7A82E6}"/>
              </a:ext>
            </a:extLst>
          </p:cNvPr>
          <p:cNvCxnSpPr>
            <a:cxnSpLocks/>
          </p:cNvCxnSpPr>
          <p:nvPr/>
        </p:nvCxnSpPr>
        <p:spPr>
          <a:xfrm flipV="1">
            <a:off x="8724900" y="4137660"/>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14" name="Conector recto 13">
            <a:extLst>
              <a:ext uri="{FF2B5EF4-FFF2-40B4-BE49-F238E27FC236}">
                <a16:creationId xmlns:a16="http://schemas.microsoft.com/office/drawing/2014/main" id="{D99E4850-4A7E-0375-3BB6-24004871716E}"/>
              </a:ext>
            </a:extLst>
          </p:cNvPr>
          <p:cNvCxnSpPr>
            <a:cxnSpLocks/>
          </p:cNvCxnSpPr>
          <p:nvPr/>
        </p:nvCxnSpPr>
        <p:spPr>
          <a:xfrm>
            <a:off x="7239000" y="4594860"/>
            <a:ext cx="1485900" cy="0"/>
          </a:xfrm>
          <a:prstGeom prst="line">
            <a:avLst/>
          </a:prstGeom>
        </p:spPr>
        <p:style>
          <a:lnRef idx="1">
            <a:schemeClr val="dk1"/>
          </a:lnRef>
          <a:fillRef idx="0">
            <a:schemeClr val="dk1"/>
          </a:fillRef>
          <a:effectRef idx="0">
            <a:schemeClr val="dk1"/>
          </a:effectRef>
          <a:fontRef idx="minor">
            <a:schemeClr val="tx1"/>
          </a:fontRef>
        </p:style>
      </p:cxnSp>
      <p:cxnSp>
        <p:nvCxnSpPr>
          <p:cNvPr id="16" name="Conector recto 15">
            <a:extLst>
              <a:ext uri="{FF2B5EF4-FFF2-40B4-BE49-F238E27FC236}">
                <a16:creationId xmlns:a16="http://schemas.microsoft.com/office/drawing/2014/main" id="{0578B3A5-942C-5808-6942-70DAA2C70B26}"/>
              </a:ext>
            </a:extLst>
          </p:cNvPr>
          <p:cNvCxnSpPr>
            <a:cxnSpLocks/>
          </p:cNvCxnSpPr>
          <p:nvPr/>
        </p:nvCxnSpPr>
        <p:spPr>
          <a:xfrm flipV="1">
            <a:off x="7239000" y="4137660"/>
            <a:ext cx="0" cy="4572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20202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dirty="0">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5" name="CuadroTexto 4">
            <a:extLst>
              <a:ext uri="{FF2B5EF4-FFF2-40B4-BE49-F238E27FC236}">
                <a16:creationId xmlns:a16="http://schemas.microsoft.com/office/drawing/2014/main" id="{83AB0AEB-4250-634E-275B-4A1E87EFA872}"/>
              </a:ext>
            </a:extLst>
          </p:cNvPr>
          <p:cNvSpPr txBox="1"/>
          <p:nvPr/>
        </p:nvSpPr>
        <p:spPr>
          <a:xfrm>
            <a:off x="256032" y="1665998"/>
            <a:ext cx="11631168" cy="1569660"/>
          </a:xfrm>
          <a:prstGeom prst="rect">
            <a:avLst/>
          </a:prstGeom>
          <a:noFill/>
        </p:spPr>
        <p:txBody>
          <a:bodyPr wrap="square" rtlCol="0">
            <a:spAutoFit/>
          </a:bodyPr>
          <a:lstStyle/>
          <a:p>
            <a:r>
              <a:rPr lang="es-CO" sz="2400" b="1" dirty="0"/>
              <a:t>Atributos :</a:t>
            </a:r>
          </a:p>
          <a:p>
            <a:endParaRPr lang="es-CO" sz="2400" b="1" dirty="0"/>
          </a:p>
          <a:p>
            <a:r>
              <a:rPr lang="es-CO" sz="2400" dirty="0">
                <a:cs typeface="Calibri"/>
              </a:rPr>
              <a:t>Describen propiedades de las entidades y las relaciones. En este modelo se representan con un círculo, dentro del cual se coloca el nombre del atributo. Ejemplo:</a:t>
            </a:r>
            <a:endParaRPr lang="es-CO" sz="2400" b="1" dirty="0">
              <a:solidFill>
                <a:srgbClr val="5E5C5D"/>
              </a:solidFill>
              <a:cs typeface="Calibri"/>
            </a:endParaRPr>
          </a:p>
        </p:txBody>
      </p:sp>
      <p:pic>
        <p:nvPicPr>
          <p:cNvPr id="6" name="Imagen 5">
            <a:extLst>
              <a:ext uri="{FF2B5EF4-FFF2-40B4-BE49-F238E27FC236}">
                <a16:creationId xmlns:a16="http://schemas.microsoft.com/office/drawing/2014/main" id="{804BB175-B85A-CF9E-244C-9CC20897EAC7}"/>
              </a:ext>
            </a:extLst>
          </p:cNvPr>
          <p:cNvPicPr>
            <a:picLocks noChangeAspect="1"/>
          </p:cNvPicPr>
          <p:nvPr/>
        </p:nvPicPr>
        <p:blipFill>
          <a:blip r:embed="rId3"/>
          <a:stretch>
            <a:fillRect/>
          </a:stretch>
        </p:blipFill>
        <p:spPr>
          <a:xfrm>
            <a:off x="2074944" y="3539838"/>
            <a:ext cx="7769341" cy="2838636"/>
          </a:xfrm>
          <a:prstGeom prst="rect">
            <a:avLst/>
          </a:prstGeom>
        </p:spPr>
      </p:pic>
    </p:spTree>
    <p:extLst>
      <p:ext uri="{BB962C8B-B14F-4D97-AF65-F5344CB8AC3E}">
        <p14:creationId xmlns:p14="http://schemas.microsoft.com/office/powerpoint/2010/main" val="172610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3" name="CuadroTexto 2">
            <a:extLst>
              <a:ext uri="{FF2B5EF4-FFF2-40B4-BE49-F238E27FC236}">
                <a16:creationId xmlns:a16="http://schemas.microsoft.com/office/drawing/2014/main" id="{2489E542-7D87-66A5-7D05-F1F8E5A3E696}"/>
              </a:ext>
            </a:extLst>
          </p:cNvPr>
          <p:cNvSpPr txBox="1"/>
          <p:nvPr/>
        </p:nvSpPr>
        <p:spPr>
          <a:xfrm>
            <a:off x="0" y="1548459"/>
            <a:ext cx="11777472" cy="1569660"/>
          </a:xfrm>
          <a:prstGeom prst="rect">
            <a:avLst/>
          </a:prstGeom>
          <a:noFill/>
        </p:spPr>
        <p:txBody>
          <a:bodyPr wrap="square" rtlCol="0">
            <a:spAutoFit/>
          </a:bodyPr>
          <a:lstStyle/>
          <a:p>
            <a:r>
              <a:rPr lang="es-CO" sz="2400" b="1" dirty="0"/>
              <a:t>Tipos de Atributos  :</a:t>
            </a:r>
          </a:p>
          <a:p>
            <a:endParaRPr lang="es-CO" sz="2400" b="1" dirty="0"/>
          </a:p>
          <a:p>
            <a:r>
              <a:rPr lang="es-CO" sz="2400" dirty="0">
                <a:cs typeface="Calibri"/>
              </a:rPr>
              <a:t>Describen propiedades de las entidades y las relaciones. En este modelo se representan con un círculo, dentro del cual se coloca el nombre del atributo. Ejemplo:</a:t>
            </a:r>
            <a:endParaRPr lang="es-CO" sz="2400" b="1" dirty="0">
              <a:solidFill>
                <a:srgbClr val="5E5C5D"/>
              </a:solidFill>
              <a:cs typeface="Calibri"/>
            </a:endParaRPr>
          </a:p>
        </p:txBody>
      </p:sp>
      <p:pic>
        <p:nvPicPr>
          <p:cNvPr id="4" name="Imagen 3">
            <a:extLst>
              <a:ext uri="{FF2B5EF4-FFF2-40B4-BE49-F238E27FC236}">
                <a16:creationId xmlns:a16="http://schemas.microsoft.com/office/drawing/2014/main" id="{A9D558B9-61B7-0370-3971-66B76B0B415D}"/>
              </a:ext>
            </a:extLst>
          </p:cNvPr>
          <p:cNvPicPr>
            <a:picLocks noChangeAspect="1"/>
          </p:cNvPicPr>
          <p:nvPr/>
        </p:nvPicPr>
        <p:blipFill>
          <a:blip r:embed="rId3"/>
          <a:stretch>
            <a:fillRect/>
          </a:stretch>
        </p:blipFill>
        <p:spPr>
          <a:xfrm>
            <a:off x="1172172" y="3575304"/>
            <a:ext cx="2814612" cy="2477842"/>
          </a:xfrm>
          <a:prstGeom prst="rect">
            <a:avLst/>
          </a:prstGeom>
          <a:ln>
            <a:solidFill>
              <a:schemeClr val="accent1"/>
            </a:solidFill>
          </a:ln>
        </p:spPr>
      </p:pic>
      <p:pic>
        <p:nvPicPr>
          <p:cNvPr id="7" name="Imagen 6">
            <a:extLst>
              <a:ext uri="{FF2B5EF4-FFF2-40B4-BE49-F238E27FC236}">
                <a16:creationId xmlns:a16="http://schemas.microsoft.com/office/drawing/2014/main" id="{75DAC7E2-3AA8-A3EC-7F15-45AC39321B7B}"/>
              </a:ext>
            </a:extLst>
          </p:cNvPr>
          <p:cNvPicPr>
            <a:picLocks noChangeAspect="1"/>
          </p:cNvPicPr>
          <p:nvPr/>
        </p:nvPicPr>
        <p:blipFill>
          <a:blip r:embed="rId4"/>
          <a:stretch>
            <a:fillRect/>
          </a:stretch>
        </p:blipFill>
        <p:spPr>
          <a:xfrm>
            <a:off x="5888736" y="3854091"/>
            <a:ext cx="4584520" cy="2477842"/>
          </a:xfrm>
          <a:prstGeom prst="rect">
            <a:avLst/>
          </a:prstGeom>
          <a:ln>
            <a:solidFill>
              <a:schemeClr val="accent1"/>
            </a:solidFill>
          </a:ln>
        </p:spPr>
      </p:pic>
    </p:spTree>
    <p:extLst>
      <p:ext uri="{BB962C8B-B14F-4D97-AF65-F5344CB8AC3E}">
        <p14:creationId xmlns:p14="http://schemas.microsoft.com/office/powerpoint/2010/main" val="3487670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5" name="CuadroTexto 4">
            <a:extLst>
              <a:ext uri="{FF2B5EF4-FFF2-40B4-BE49-F238E27FC236}">
                <a16:creationId xmlns:a16="http://schemas.microsoft.com/office/drawing/2014/main" id="{2228318C-8B7D-A161-37DD-3574C5225B69}"/>
              </a:ext>
            </a:extLst>
          </p:cNvPr>
          <p:cNvSpPr txBox="1"/>
          <p:nvPr/>
        </p:nvSpPr>
        <p:spPr>
          <a:xfrm>
            <a:off x="124968" y="1478009"/>
            <a:ext cx="11942064" cy="6001643"/>
          </a:xfrm>
          <a:prstGeom prst="rect">
            <a:avLst/>
          </a:prstGeom>
          <a:noFill/>
        </p:spPr>
        <p:txBody>
          <a:bodyPr wrap="square" rtlCol="0">
            <a:spAutoFit/>
          </a:bodyPr>
          <a:lstStyle/>
          <a:p>
            <a:r>
              <a:rPr lang="es-CO" sz="2400" b="1" dirty="0"/>
              <a:t>Identificador  :</a:t>
            </a:r>
          </a:p>
          <a:p>
            <a:endParaRPr lang="es-CO" sz="2400" b="1" dirty="0"/>
          </a:p>
          <a:p>
            <a:r>
              <a:rPr lang="es-CO" sz="2400" dirty="0"/>
              <a:t>Se trata de uno o más campos cuyos valores son únicos en cada ejemplar de una entidad.</a:t>
            </a:r>
          </a:p>
          <a:p>
            <a:r>
              <a:rPr lang="es-CO" sz="2400" dirty="0"/>
              <a:t>Se indican subrayando el nombre del identificador.</a:t>
            </a:r>
          </a:p>
          <a:p>
            <a:r>
              <a:rPr lang="es-CO" sz="2400" dirty="0"/>
              <a:t>Para que un atributo sea considerado un buen identificador tiene que cumplir:</a:t>
            </a:r>
          </a:p>
          <a:p>
            <a:endParaRPr lang="es-CO" sz="2400" dirty="0"/>
          </a:p>
          <a:p>
            <a:r>
              <a:rPr lang="es-CO" sz="2400" b="1" dirty="0"/>
              <a:t>1&gt; </a:t>
            </a:r>
            <a:r>
              <a:rPr lang="es-CO" sz="2400" dirty="0"/>
              <a:t>Deben distinguir a cada ejemplar teniendo en cuenta las entidades que utiliza el</a:t>
            </a:r>
          </a:p>
          <a:p>
            <a:r>
              <a:rPr lang="es-CO" sz="2400" dirty="0"/>
              <a:t>modelo. No tiene que ser un identificador absoluto.</a:t>
            </a:r>
          </a:p>
          <a:p>
            <a:endParaRPr lang="es-CO" sz="2400" dirty="0"/>
          </a:p>
          <a:p>
            <a:r>
              <a:rPr lang="es-CO" sz="2400" b="1" dirty="0"/>
              <a:t>2&gt; </a:t>
            </a:r>
            <a:r>
              <a:rPr lang="es-CO" sz="2400" dirty="0"/>
              <a:t>Todos los ejemplares de una entidad deben tener el mismo identificador.</a:t>
            </a:r>
          </a:p>
          <a:p>
            <a:endParaRPr lang="es-CO" sz="2400" dirty="0"/>
          </a:p>
          <a:p>
            <a:r>
              <a:rPr lang="es-CO" sz="2400" b="1" dirty="0"/>
              <a:t>3&gt; </a:t>
            </a:r>
            <a:r>
              <a:rPr lang="es-CO" sz="2400" dirty="0"/>
              <a:t>Cuando un atributo es importante aun cuando no tenga una entidad concreta</a:t>
            </a:r>
          </a:p>
          <a:p>
            <a:r>
              <a:rPr lang="es-CO" sz="2400" dirty="0"/>
              <a:t>asociada, entonces se trata de una entidad y no de un atributo.</a:t>
            </a:r>
          </a:p>
          <a:p>
            <a:endParaRPr lang="es-CO" sz="2400" b="1" dirty="0"/>
          </a:p>
          <a:p>
            <a:endParaRPr lang="es-CO" sz="2400" b="1" dirty="0"/>
          </a:p>
          <a:p>
            <a:endParaRPr lang="es-CO" sz="2400" b="1" dirty="0"/>
          </a:p>
        </p:txBody>
      </p:sp>
    </p:spTree>
    <p:extLst>
      <p:ext uri="{BB962C8B-B14F-4D97-AF65-F5344CB8AC3E}">
        <p14:creationId xmlns:p14="http://schemas.microsoft.com/office/powerpoint/2010/main" val="1171486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3" name="CuadroTexto 2">
            <a:extLst>
              <a:ext uri="{FF2B5EF4-FFF2-40B4-BE49-F238E27FC236}">
                <a16:creationId xmlns:a16="http://schemas.microsoft.com/office/drawing/2014/main" id="{CAFE6D7E-ABBC-8789-9D2E-30E1AE3DF1F4}"/>
              </a:ext>
            </a:extLst>
          </p:cNvPr>
          <p:cNvSpPr txBox="1"/>
          <p:nvPr/>
        </p:nvSpPr>
        <p:spPr>
          <a:xfrm>
            <a:off x="203200" y="1574793"/>
            <a:ext cx="11529140" cy="1938992"/>
          </a:xfrm>
          <a:prstGeom prst="rect">
            <a:avLst/>
          </a:prstGeom>
          <a:noFill/>
        </p:spPr>
        <p:txBody>
          <a:bodyPr wrap="square" rtlCol="0">
            <a:spAutoFit/>
          </a:bodyPr>
          <a:lstStyle/>
          <a:p>
            <a:r>
              <a:rPr lang="es-CO" sz="2400" b="1" dirty="0"/>
              <a:t>Entidades </a:t>
            </a:r>
            <a:r>
              <a:rPr lang="es-CO" sz="2400" b="1" i="1" dirty="0" err="1"/>
              <a:t>is</a:t>
            </a:r>
            <a:r>
              <a:rPr lang="es-CO" sz="2400" b="1" i="1" dirty="0"/>
              <a:t> a :</a:t>
            </a:r>
          </a:p>
          <a:p>
            <a:endParaRPr lang="es-CO" sz="2400" b="1" i="1" dirty="0"/>
          </a:p>
          <a:p>
            <a:pPr algn="just"/>
            <a:r>
              <a:rPr lang="es-CO" sz="2400" dirty="0">
                <a:cs typeface="Calibri"/>
              </a:rPr>
              <a:t>Son relaciones de tipo </a:t>
            </a:r>
            <a:r>
              <a:rPr lang="es-CO" sz="2400" dirty="0" err="1">
                <a:cs typeface="Calibri"/>
              </a:rPr>
              <a:t>is</a:t>
            </a:r>
            <a:r>
              <a:rPr lang="es-CO" sz="2400" dirty="0">
                <a:cs typeface="Calibri"/>
              </a:rPr>
              <a:t> a (es un) aquellas en las que una entidad se descompone en entidades especializadas. Hay dos tipos de entidades </a:t>
            </a:r>
            <a:r>
              <a:rPr lang="es-CO" sz="2400" dirty="0" err="1">
                <a:cs typeface="Calibri"/>
              </a:rPr>
              <a:t>is</a:t>
            </a:r>
            <a:r>
              <a:rPr lang="es-CO" sz="2400" dirty="0">
                <a:cs typeface="Calibri"/>
              </a:rPr>
              <a:t> a: especializaciones y generalizaciones.</a:t>
            </a:r>
          </a:p>
        </p:txBody>
      </p:sp>
      <p:pic>
        <p:nvPicPr>
          <p:cNvPr id="4" name="Imagen 3">
            <a:extLst>
              <a:ext uri="{FF2B5EF4-FFF2-40B4-BE49-F238E27FC236}">
                <a16:creationId xmlns:a16="http://schemas.microsoft.com/office/drawing/2014/main" id="{208BC54B-7459-9A17-1122-EC10B61C060E}"/>
              </a:ext>
            </a:extLst>
          </p:cNvPr>
          <p:cNvPicPr>
            <a:picLocks noChangeAspect="1"/>
          </p:cNvPicPr>
          <p:nvPr/>
        </p:nvPicPr>
        <p:blipFill>
          <a:blip r:embed="rId3"/>
          <a:stretch>
            <a:fillRect/>
          </a:stretch>
        </p:blipFill>
        <p:spPr>
          <a:xfrm>
            <a:off x="1104770" y="3549252"/>
            <a:ext cx="3114714" cy="1978309"/>
          </a:xfrm>
          <a:prstGeom prst="rect">
            <a:avLst/>
          </a:prstGeom>
        </p:spPr>
      </p:pic>
      <p:pic>
        <p:nvPicPr>
          <p:cNvPr id="6" name="Imagen 5">
            <a:extLst>
              <a:ext uri="{FF2B5EF4-FFF2-40B4-BE49-F238E27FC236}">
                <a16:creationId xmlns:a16="http://schemas.microsoft.com/office/drawing/2014/main" id="{EBB5BACF-F025-817E-4A1E-2B0AE038FBB8}"/>
              </a:ext>
            </a:extLst>
          </p:cNvPr>
          <p:cNvPicPr>
            <a:picLocks noChangeAspect="1"/>
          </p:cNvPicPr>
          <p:nvPr/>
        </p:nvPicPr>
        <p:blipFill>
          <a:blip r:embed="rId4"/>
          <a:stretch>
            <a:fillRect/>
          </a:stretch>
        </p:blipFill>
        <p:spPr>
          <a:xfrm>
            <a:off x="6096000" y="3429000"/>
            <a:ext cx="3176543" cy="1554598"/>
          </a:xfrm>
          <a:prstGeom prst="rect">
            <a:avLst/>
          </a:prstGeom>
        </p:spPr>
      </p:pic>
      <p:sp>
        <p:nvSpPr>
          <p:cNvPr id="7" name="TextBox 2">
            <a:extLst>
              <a:ext uri="{FF2B5EF4-FFF2-40B4-BE49-F238E27FC236}">
                <a16:creationId xmlns:a16="http://schemas.microsoft.com/office/drawing/2014/main" id="{CD4488A7-BE6C-14A8-56C6-D2B1CCA493E7}"/>
              </a:ext>
            </a:extLst>
          </p:cNvPr>
          <p:cNvSpPr txBox="1"/>
          <p:nvPr/>
        </p:nvSpPr>
        <p:spPr>
          <a:xfrm>
            <a:off x="740212" y="5524044"/>
            <a:ext cx="3843829" cy="369332"/>
          </a:xfrm>
          <a:prstGeom prst="rect">
            <a:avLst/>
          </a:prstGeom>
          <a:noFill/>
        </p:spPr>
        <p:txBody>
          <a:bodyPr wrap="square" rtlCol="0">
            <a:spAutoFit/>
          </a:bodyPr>
          <a:lstStyle/>
          <a:p>
            <a:r>
              <a:rPr lang="es-MX" dirty="0"/>
              <a:t>Especializada : Toma mas de un valor</a:t>
            </a:r>
          </a:p>
        </p:txBody>
      </p:sp>
      <p:sp>
        <p:nvSpPr>
          <p:cNvPr id="8" name="TextBox 7">
            <a:extLst>
              <a:ext uri="{FF2B5EF4-FFF2-40B4-BE49-F238E27FC236}">
                <a16:creationId xmlns:a16="http://schemas.microsoft.com/office/drawing/2014/main" id="{2BB9919B-B9CA-AEE9-262A-4C02E6CE27A4}"/>
              </a:ext>
            </a:extLst>
          </p:cNvPr>
          <p:cNvSpPr txBox="1"/>
          <p:nvPr/>
        </p:nvSpPr>
        <p:spPr>
          <a:xfrm>
            <a:off x="6096000" y="5517922"/>
            <a:ext cx="3726403" cy="369332"/>
          </a:xfrm>
          <a:prstGeom prst="rect">
            <a:avLst/>
          </a:prstGeom>
          <a:noFill/>
        </p:spPr>
        <p:txBody>
          <a:bodyPr wrap="square" rtlCol="0">
            <a:spAutoFit/>
          </a:bodyPr>
          <a:lstStyle/>
          <a:p>
            <a:r>
              <a:rPr lang="es-MX" dirty="0"/>
              <a:t>Generalizada: tomar un valor </a:t>
            </a:r>
          </a:p>
        </p:txBody>
      </p:sp>
    </p:spTree>
    <p:extLst>
      <p:ext uri="{BB962C8B-B14F-4D97-AF65-F5344CB8AC3E}">
        <p14:creationId xmlns:p14="http://schemas.microsoft.com/office/powerpoint/2010/main" val="144305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5" name="CuadroTexto 4">
            <a:extLst>
              <a:ext uri="{FF2B5EF4-FFF2-40B4-BE49-F238E27FC236}">
                <a16:creationId xmlns:a16="http://schemas.microsoft.com/office/drawing/2014/main" id="{FA0975D2-80E6-FC13-8273-42AFDE2B6F46}"/>
              </a:ext>
            </a:extLst>
          </p:cNvPr>
          <p:cNvSpPr txBox="1"/>
          <p:nvPr/>
        </p:nvSpPr>
        <p:spPr>
          <a:xfrm>
            <a:off x="442733" y="1896932"/>
            <a:ext cx="10877539" cy="4893647"/>
          </a:xfrm>
          <a:prstGeom prst="rect">
            <a:avLst/>
          </a:prstGeom>
          <a:noFill/>
        </p:spPr>
        <p:txBody>
          <a:bodyPr wrap="square" rtlCol="0">
            <a:spAutoFit/>
          </a:bodyPr>
          <a:lstStyle/>
          <a:p>
            <a:r>
              <a:rPr lang="es-CO" sz="2400" b="1" dirty="0"/>
              <a:t>Pasos para el modelado de una base de datos  :</a:t>
            </a:r>
          </a:p>
          <a:p>
            <a:endParaRPr lang="es-CO" sz="2400" b="1" dirty="0"/>
          </a:p>
          <a:p>
            <a:r>
              <a:rPr lang="es-CO" sz="2400" b="1" dirty="0"/>
              <a:t>1&gt; </a:t>
            </a:r>
            <a:r>
              <a:rPr lang="es-CO" sz="2400" dirty="0"/>
              <a:t>Encontrar entidades (conjuntos de entidades).</a:t>
            </a:r>
          </a:p>
          <a:p>
            <a:endParaRPr lang="es-CO" sz="2400" dirty="0"/>
          </a:p>
          <a:p>
            <a:r>
              <a:rPr lang="es-CO" sz="2400" b="1" dirty="0"/>
              <a:t>2&gt; </a:t>
            </a:r>
            <a:r>
              <a:rPr lang="es-CO" sz="2400" dirty="0"/>
              <a:t>Identificar atributos de las entidades.</a:t>
            </a:r>
          </a:p>
          <a:p>
            <a:endParaRPr lang="es-CO" sz="2400" dirty="0"/>
          </a:p>
          <a:p>
            <a:r>
              <a:rPr lang="es-CO" sz="2400" b="1" dirty="0"/>
              <a:t>3&gt; </a:t>
            </a:r>
            <a:r>
              <a:rPr lang="es-CO" sz="2400" dirty="0"/>
              <a:t>Buscar identificadores.</a:t>
            </a:r>
          </a:p>
          <a:p>
            <a:endParaRPr lang="es-CO" sz="2400" dirty="0"/>
          </a:p>
          <a:p>
            <a:r>
              <a:rPr lang="es-CO" sz="2400" b="1" dirty="0"/>
              <a:t>4&gt; </a:t>
            </a:r>
            <a:r>
              <a:rPr lang="es-CO" sz="2400" dirty="0"/>
              <a:t>Especificar las relaciones y cardinalidades.</a:t>
            </a:r>
          </a:p>
          <a:p>
            <a:endParaRPr lang="es-CO" sz="2400" dirty="0"/>
          </a:p>
          <a:p>
            <a:r>
              <a:rPr lang="es-CO" sz="2400" b="1" dirty="0"/>
              <a:t>5&gt; </a:t>
            </a:r>
            <a:r>
              <a:rPr lang="es-CO" sz="2400" dirty="0"/>
              <a:t>Identificar entidades y relaciones débiles.</a:t>
            </a:r>
          </a:p>
          <a:p>
            <a:endParaRPr lang="es-CO" sz="2400" dirty="0"/>
          </a:p>
          <a:p>
            <a:r>
              <a:rPr lang="es-CO" sz="2400" b="1" dirty="0"/>
              <a:t>6&gt; </a:t>
            </a:r>
            <a:r>
              <a:rPr lang="es-CO" sz="2400" dirty="0"/>
              <a:t>Especializar y generalizar entidades donde sea posible</a:t>
            </a:r>
            <a:endParaRPr lang="es-CO" sz="2400" b="1" dirty="0"/>
          </a:p>
        </p:txBody>
      </p:sp>
    </p:spTree>
    <p:extLst>
      <p:ext uri="{BB962C8B-B14F-4D97-AF65-F5344CB8AC3E}">
        <p14:creationId xmlns:p14="http://schemas.microsoft.com/office/powerpoint/2010/main" val="1098933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3" name="CuadroTexto 2">
            <a:extLst>
              <a:ext uri="{FF2B5EF4-FFF2-40B4-BE49-F238E27FC236}">
                <a16:creationId xmlns:a16="http://schemas.microsoft.com/office/drawing/2014/main" id="{8FBA0B3D-1E43-1866-A79D-7AB6AF1E1E43}"/>
              </a:ext>
            </a:extLst>
          </p:cNvPr>
          <p:cNvSpPr txBox="1"/>
          <p:nvPr/>
        </p:nvSpPr>
        <p:spPr>
          <a:xfrm>
            <a:off x="442733" y="2038558"/>
            <a:ext cx="8272130" cy="4431983"/>
          </a:xfrm>
          <a:prstGeom prst="rect">
            <a:avLst/>
          </a:prstGeom>
          <a:noFill/>
        </p:spPr>
        <p:txBody>
          <a:bodyPr wrap="square" rtlCol="0">
            <a:spAutoFit/>
          </a:bodyPr>
          <a:lstStyle/>
          <a:p>
            <a:r>
              <a:rPr lang="es-CO" sz="2400" b="1" dirty="0"/>
              <a:t>Material del Modelado de datos :</a:t>
            </a:r>
          </a:p>
          <a:p>
            <a:endParaRPr lang="es-CO" sz="2400" b="1" dirty="0"/>
          </a:p>
          <a:p>
            <a:r>
              <a:rPr lang="es-CO" sz="2400" b="1" dirty="0"/>
              <a:t>1&gt; </a:t>
            </a:r>
            <a:r>
              <a:rPr lang="es-CO" sz="2400" dirty="0">
                <a:hlinkClick r:id="rId3"/>
              </a:rPr>
              <a:t>https://www.youtube.com/watch?v=MRmmPJId5-k&amp;t=39s</a:t>
            </a:r>
            <a:endParaRPr lang="es-CO" sz="2400" dirty="0"/>
          </a:p>
          <a:p>
            <a:r>
              <a:rPr lang="es-CO" sz="2400" b="1" dirty="0"/>
              <a:t>2&gt;</a:t>
            </a:r>
            <a:r>
              <a:rPr lang="es-CO" sz="2400" dirty="0">
                <a:hlinkClick r:id="rId4"/>
              </a:rPr>
              <a:t>https://www.youtube.com/watch?v=yoeV4Ex8C8U</a:t>
            </a:r>
            <a:endParaRPr lang="es-CO" sz="2400" dirty="0"/>
          </a:p>
          <a:p>
            <a:r>
              <a:rPr lang="es-CO" sz="2400" b="1" dirty="0"/>
              <a:t>3&gt;</a:t>
            </a:r>
            <a:r>
              <a:rPr lang="es-CO" sz="2400" dirty="0">
                <a:hlinkClick r:id="rId5"/>
              </a:rPr>
              <a:t>https://www.youtube.com/watch?v=u2bXiPJf9oQ&amp;t</a:t>
            </a:r>
            <a:r>
              <a:rPr lang="es-CO" sz="2400" b="1" dirty="0">
                <a:hlinkClick r:id="rId6"/>
              </a:rPr>
              <a:t>2&gt;</a:t>
            </a:r>
            <a:r>
              <a:rPr lang="es-CO" sz="2400" dirty="0">
                <a:hlinkClick r:id="rId6"/>
              </a:rPr>
              <a:t>https://www.youtube.com/watch?v=G--gVr9eEcA</a:t>
            </a:r>
            <a:r>
              <a:rPr lang="es-CO" sz="2400" dirty="0">
                <a:hlinkClick r:id="rId5"/>
              </a:rPr>
              <a:t>=6s</a:t>
            </a:r>
            <a:endParaRPr lang="es-CO" sz="2400" b="1" dirty="0"/>
          </a:p>
          <a:p>
            <a:endParaRPr lang="es-CO" sz="2400" dirty="0"/>
          </a:p>
          <a:p>
            <a:r>
              <a:rPr lang="es-CO" sz="2400" b="1" dirty="0"/>
              <a:t>3&gt;</a:t>
            </a:r>
            <a:r>
              <a:rPr lang="es-CO" sz="2400" dirty="0">
                <a:hlinkClick r:id="rId7"/>
              </a:rPr>
              <a:t>https://www.youtube.com/watch?v=TKuxYHb-Hvc</a:t>
            </a:r>
            <a:endParaRPr lang="es-CO" sz="2400" dirty="0"/>
          </a:p>
          <a:p>
            <a:endParaRPr lang="es-CO" b="1" dirty="0"/>
          </a:p>
          <a:p>
            <a:endParaRPr lang="es-CO" b="1" dirty="0"/>
          </a:p>
          <a:p>
            <a:endParaRPr lang="es-CO" b="1" dirty="0"/>
          </a:p>
          <a:p>
            <a:endParaRPr lang="es-CO" b="1" dirty="0"/>
          </a:p>
          <a:p>
            <a:endParaRPr lang="es-CO" b="1" dirty="0"/>
          </a:p>
        </p:txBody>
      </p:sp>
    </p:spTree>
    <p:extLst>
      <p:ext uri="{BB962C8B-B14F-4D97-AF65-F5344CB8AC3E}">
        <p14:creationId xmlns:p14="http://schemas.microsoft.com/office/powerpoint/2010/main" val="849765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3BB50602-E5DA-5200-014B-2500AD775CB8}"/>
              </a:ext>
            </a:extLst>
          </p:cNvPr>
          <p:cNvSpPr txBox="1"/>
          <p:nvPr/>
        </p:nvSpPr>
        <p:spPr>
          <a:xfrm>
            <a:off x="305794" y="1782526"/>
            <a:ext cx="11398526" cy="4524315"/>
          </a:xfrm>
          <a:prstGeom prst="rect">
            <a:avLst/>
          </a:prstGeom>
          <a:noFill/>
        </p:spPr>
        <p:txBody>
          <a:bodyPr wrap="square" rtlCol="0">
            <a:spAutoFit/>
          </a:bodyPr>
          <a:lstStyle/>
          <a:p>
            <a:r>
              <a:rPr lang="es-CO" sz="2400" b="1" dirty="0"/>
              <a:t>Ejemplo:</a:t>
            </a:r>
          </a:p>
          <a:p>
            <a:endParaRPr lang="es-CO" sz="2400" b="1" dirty="0"/>
          </a:p>
          <a:p>
            <a:pPr algn="just"/>
            <a:r>
              <a:rPr lang="es-CO" sz="2400" dirty="0"/>
              <a:t>A partir del siguiente enunciado se desea realiza el modelo entidad-relación.</a:t>
            </a:r>
          </a:p>
          <a:p>
            <a:pPr algn="just"/>
            <a:endParaRPr lang="es-CO" sz="2400" dirty="0"/>
          </a:p>
          <a:p>
            <a:pPr algn="just"/>
            <a:r>
              <a:rPr lang="es-CO" sz="2400" i="1" dirty="0"/>
              <a:t>Una </a:t>
            </a:r>
            <a:r>
              <a:rPr lang="es-CO" sz="2400" i="1" dirty="0">
                <a:solidFill>
                  <a:srgbClr val="FF0000"/>
                </a:solidFill>
              </a:rPr>
              <a:t>empresa</a:t>
            </a:r>
            <a:r>
              <a:rPr lang="es-CO" sz="2400" i="1" dirty="0"/>
              <a:t> vende </a:t>
            </a:r>
            <a:r>
              <a:rPr lang="es-CO" sz="2400" i="1" dirty="0">
                <a:solidFill>
                  <a:srgbClr val="FF0000"/>
                </a:solidFill>
              </a:rPr>
              <a:t>productos</a:t>
            </a:r>
            <a:r>
              <a:rPr lang="es-CO" sz="2400" i="1" dirty="0"/>
              <a:t> a varios </a:t>
            </a:r>
            <a:r>
              <a:rPr lang="es-CO" sz="2400" i="1" dirty="0">
                <a:solidFill>
                  <a:srgbClr val="FF0000"/>
                </a:solidFill>
              </a:rPr>
              <a:t>clientes</a:t>
            </a:r>
            <a:r>
              <a:rPr lang="es-CO" sz="2400" i="1" dirty="0"/>
              <a:t>. Se necesita conocer los datos personales de los clientes (nombre, apellidos, dni, dirección y fecha de nacimiento). Cada producto tiene un nombre y un código, así como un precio unitario. Un cliente puede comprar varios productos a la empresa, y un mismo producto puede ser comprado por varios clientes.</a:t>
            </a:r>
            <a:endParaRPr lang="es-CO" sz="2400" dirty="0"/>
          </a:p>
          <a:p>
            <a:pPr algn="just"/>
            <a:r>
              <a:rPr lang="es-CO" sz="2400" i="1" dirty="0"/>
              <a:t>Los productos son suministrados por diferentes </a:t>
            </a:r>
            <a:r>
              <a:rPr lang="es-CO" sz="2400" i="1" dirty="0">
                <a:solidFill>
                  <a:srgbClr val="FF0000"/>
                </a:solidFill>
              </a:rPr>
              <a:t>proveedores</a:t>
            </a:r>
            <a:r>
              <a:rPr lang="es-CO" sz="2400" i="1" dirty="0"/>
              <a:t>. Se debe tener en cuenta que un producto sólo puede ser suministrado por un proveedor, y que un proveedor puede suministrar diferentes productos. De cada proveedor se desea conocer el NIF, nombre y dirección.</a:t>
            </a:r>
            <a:endParaRPr lang="es-CO" sz="2400" b="1" dirty="0"/>
          </a:p>
        </p:txBody>
      </p:sp>
    </p:spTree>
    <p:extLst>
      <p:ext uri="{BB962C8B-B14F-4D97-AF65-F5344CB8AC3E}">
        <p14:creationId xmlns:p14="http://schemas.microsoft.com/office/powerpoint/2010/main" val="4078672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pic>
        <p:nvPicPr>
          <p:cNvPr id="3" name="Imagen 2">
            <a:extLst>
              <a:ext uri="{FF2B5EF4-FFF2-40B4-BE49-F238E27FC236}">
                <a16:creationId xmlns:a16="http://schemas.microsoft.com/office/drawing/2014/main" id="{8C9F8DFF-5190-BC92-EE07-34A196C415D9}"/>
              </a:ext>
            </a:extLst>
          </p:cNvPr>
          <p:cNvPicPr>
            <a:picLocks noChangeAspect="1"/>
          </p:cNvPicPr>
          <p:nvPr/>
        </p:nvPicPr>
        <p:blipFill>
          <a:blip r:embed="rId3"/>
          <a:stretch>
            <a:fillRect/>
          </a:stretch>
        </p:blipFill>
        <p:spPr>
          <a:xfrm>
            <a:off x="1759088" y="2588984"/>
            <a:ext cx="8079856" cy="3608130"/>
          </a:xfrm>
          <a:prstGeom prst="rect">
            <a:avLst/>
          </a:prstGeom>
        </p:spPr>
      </p:pic>
      <p:sp>
        <p:nvSpPr>
          <p:cNvPr id="5" name="CuadroTexto 4">
            <a:extLst>
              <a:ext uri="{FF2B5EF4-FFF2-40B4-BE49-F238E27FC236}">
                <a16:creationId xmlns:a16="http://schemas.microsoft.com/office/drawing/2014/main" id="{32BFB2C7-5C70-3C91-63A4-0DF15100DDE7}"/>
              </a:ext>
            </a:extLst>
          </p:cNvPr>
          <p:cNvSpPr txBox="1"/>
          <p:nvPr/>
        </p:nvSpPr>
        <p:spPr>
          <a:xfrm>
            <a:off x="146304" y="1543949"/>
            <a:ext cx="8272130" cy="369332"/>
          </a:xfrm>
          <a:prstGeom prst="rect">
            <a:avLst/>
          </a:prstGeom>
          <a:noFill/>
        </p:spPr>
        <p:txBody>
          <a:bodyPr wrap="square" rtlCol="0">
            <a:spAutoFit/>
          </a:bodyPr>
          <a:lstStyle/>
          <a:p>
            <a:r>
              <a:rPr lang="es-CO" b="1" dirty="0"/>
              <a:t>Solución al ejemplo:</a:t>
            </a:r>
          </a:p>
        </p:txBody>
      </p:sp>
    </p:spTree>
    <p:extLst>
      <p:ext uri="{BB962C8B-B14F-4D97-AF65-F5344CB8AC3E}">
        <p14:creationId xmlns:p14="http://schemas.microsoft.com/office/powerpoint/2010/main" val="1673528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AE781B9D-2561-E207-B28A-38217AC5E201}"/>
              </a:ext>
            </a:extLst>
          </p:cNvPr>
          <p:cNvSpPr txBox="1"/>
          <p:nvPr/>
        </p:nvSpPr>
        <p:spPr>
          <a:xfrm>
            <a:off x="241564" y="1471630"/>
            <a:ext cx="11426179" cy="4708981"/>
          </a:xfrm>
          <a:prstGeom prst="rect">
            <a:avLst/>
          </a:prstGeom>
          <a:noFill/>
        </p:spPr>
        <p:txBody>
          <a:bodyPr wrap="square" rtlCol="0">
            <a:spAutoFit/>
          </a:bodyPr>
          <a:lstStyle/>
          <a:p>
            <a:r>
              <a:rPr lang="es-CO" sz="2000" b="1" dirty="0"/>
              <a:t>Ejemplo:</a:t>
            </a:r>
          </a:p>
          <a:p>
            <a:pPr algn="just"/>
            <a:endParaRPr lang="es-CO" sz="2000" b="1" dirty="0">
              <a:latin typeface="+mj-lt"/>
            </a:endParaRPr>
          </a:p>
          <a:p>
            <a:pPr algn="just"/>
            <a:r>
              <a:rPr lang="es-CO" sz="2000" i="1" dirty="0">
                <a:latin typeface="+mj-lt"/>
              </a:rPr>
              <a:t>1) A partir del siguiente supuesto diseñar el modelo entidad-relación:</a:t>
            </a:r>
            <a:endParaRPr lang="es-CO" sz="2000" dirty="0">
              <a:latin typeface="+mj-lt"/>
            </a:endParaRPr>
          </a:p>
          <a:p>
            <a:pPr algn="just"/>
            <a:r>
              <a:rPr lang="es-CO" sz="2000" i="1" dirty="0">
                <a:latin typeface="+mj-lt"/>
              </a:rPr>
              <a:t>Se desea diseñar una base de datos para almacenar y gestionar la información empleada por una empresa dedicada a la venta de automóviles, teniendo en cuenta los siguientes aspectos:</a:t>
            </a:r>
            <a:endParaRPr lang="es-CO" sz="2000" dirty="0">
              <a:latin typeface="+mj-lt"/>
            </a:endParaRPr>
          </a:p>
          <a:p>
            <a:pPr algn="just"/>
            <a:r>
              <a:rPr lang="es-CO" sz="2000" i="1" dirty="0">
                <a:latin typeface="+mj-lt"/>
              </a:rPr>
              <a:t>La </a:t>
            </a:r>
            <a:r>
              <a:rPr lang="es-CO" sz="2000" i="1" dirty="0">
                <a:highlight>
                  <a:srgbClr val="FFFF00"/>
                </a:highlight>
                <a:latin typeface="+mj-lt"/>
              </a:rPr>
              <a:t>empresa</a:t>
            </a:r>
            <a:r>
              <a:rPr lang="es-CO" sz="2000" i="1" dirty="0">
                <a:latin typeface="+mj-lt"/>
              </a:rPr>
              <a:t> dispone de una serie de </a:t>
            </a:r>
            <a:r>
              <a:rPr lang="es-CO" sz="2000" i="1" dirty="0">
                <a:highlight>
                  <a:srgbClr val="FFFF00"/>
                </a:highlight>
                <a:latin typeface="+mj-lt"/>
              </a:rPr>
              <a:t>coches</a:t>
            </a:r>
            <a:r>
              <a:rPr lang="es-CO" sz="2000" i="1" dirty="0">
                <a:latin typeface="+mj-lt"/>
              </a:rPr>
              <a:t> para su venta. Se necesita conocer la matrícula, marca y modelo, el color y el precio de venta de cada coche.</a:t>
            </a:r>
            <a:endParaRPr lang="es-CO" sz="2000" dirty="0">
              <a:latin typeface="+mj-lt"/>
            </a:endParaRPr>
          </a:p>
          <a:p>
            <a:pPr algn="just"/>
            <a:r>
              <a:rPr lang="es-CO" sz="2000" i="1" dirty="0">
                <a:latin typeface="+mj-lt"/>
              </a:rPr>
              <a:t>Los datos que interesa conocer de cada </a:t>
            </a:r>
            <a:r>
              <a:rPr lang="es-CO" sz="2000" i="1" dirty="0">
                <a:highlight>
                  <a:srgbClr val="FFFF00"/>
                </a:highlight>
                <a:latin typeface="+mj-lt"/>
              </a:rPr>
              <a:t>cliente</a:t>
            </a:r>
            <a:r>
              <a:rPr lang="es-CO" sz="2000" i="1" dirty="0">
                <a:latin typeface="+mj-lt"/>
              </a:rPr>
              <a:t> son el NIF, nombre, dirección, ciudad y número de teléfono: además, los clientes se diferencian por un código interno de la empresa que se incrementa automáticamente cuando un cliente se da de alta en ella. Un cliente puede comprar tantos coches como desee a la empresa. Un coche determinado solo puede ser comprado por un único cliente.</a:t>
            </a:r>
            <a:endParaRPr lang="es-CO" sz="2000" dirty="0">
              <a:latin typeface="+mj-lt"/>
            </a:endParaRPr>
          </a:p>
          <a:p>
            <a:pPr algn="just"/>
            <a:r>
              <a:rPr lang="es-CO" sz="2000" i="1" dirty="0">
                <a:latin typeface="+mj-lt"/>
              </a:rPr>
              <a:t>El concesionario también se encarga de llevar a cabo las revisiones que se realizan a cada coche. Cada revisión tiene asociado un código que se incrementa automáticamente por cada revisión que se haga. De cada revisión se desea saber si se ha hecho cambio de filtro, si se ha hecho cambio de aceite, si se ha hecho cambio de frenos u otros. Los coches pueden pasar varias revisiones en el concesionario.</a:t>
            </a:r>
            <a:endParaRPr lang="es-CO" sz="2000" b="1" dirty="0"/>
          </a:p>
        </p:txBody>
      </p:sp>
    </p:spTree>
    <p:extLst>
      <p:ext uri="{BB962C8B-B14F-4D97-AF65-F5344CB8AC3E}">
        <p14:creationId xmlns:p14="http://schemas.microsoft.com/office/powerpoint/2010/main" val="2067614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2733" y="154690"/>
            <a:ext cx="10266595" cy="1082888"/>
          </a:xfrm>
        </p:spPr>
        <p:txBody>
          <a:bodyPr>
            <a:normAutofit/>
          </a:bodyPr>
          <a:lstStyle/>
          <a:p>
            <a:r>
              <a:rPr lang="es-MX" sz="4000" b="1">
                <a:solidFill>
                  <a:srgbClr val="FFFFFF"/>
                </a:solidFill>
                <a:latin typeface="Source Sans Pro" panose="020B0604020202020204" pitchFamily="34" charset="0"/>
              </a:rPr>
              <a:t>Modelado de Datos</a:t>
            </a:r>
            <a:endParaRPr lang="es-CO" dirty="0">
              <a:solidFill>
                <a:schemeClr val="bg1"/>
              </a:solidFill>
              <a:latin typeface="Work Sans Medium" pitchFamily="2" charset="77"/>
            </a:endParaRPr>
          </a:p>
        </p:txBody>
      </p:sp>
      <p:sp>
        <p:nvSpPr>
          <p:cNvPr id="3" name="CuadroTexto 2">
            <a:extLst>
              <a:ext uri="{FF2B5EF4-FFF2-40B4-BE49-F238E27FC236}">
                <a16:creationId xmlns:a16="http://schemas.microsoft.com/office/drawing/2014/main" id="{FFA6D7A1-F8C9-66EB-9527-B6BD4A0EA568}"/>
              </a:ext>
            </a:extLst>
          </p:cNvPr>
          <p:cNvSpPr txBox="1"/>
          <p:nvPr/>
        </p:nvSpPr>
        <p:spPr>
          <a:xfrm>
            <a:off x="0" y="1438746"/>
            <a:ext cx="12192000" cy="5262979"/>
          </a:xfrm>
          <a:prstGeom prst="rect">
            <a:avLst/>
          </a:prstGeom>
          <a:noFill/>
        </p:spPr>
        <p:txBody>
          <a:bodyPr wrap="square" rtlCol="0">
            <a:spAutoFit/>
          </a:bodyPr>
          <a:lstStyle/>
          <a:p>
            <a:r>
              <a:rPr lang="es-CO" sz="2400" b="1" dirty="0"/>
              <a:t>Ejemplo:</a:t>
            </a:r>
          </a:p>
          <a:p>
            <a:pPr algn="just"/>
            <a:r>
              <a:rPr lang="es-CO" sz="2400" dirty="0"/>
              <a:t>A partir del siguiente supuesto diseñar el modelo entidad-relación:</a:t>
            </a:r>
          </a:p>
          <a:p>
            <a:pPr algn="just"/>
            <a:r>
              <a:rPr lang="es-CO" sz="2400" i="1" dirty="0"/>
              <a:t>La clínica “REINA ISABEL” necesita llevar un control informatizado de su gestión de pacientes y médicos.</a:t>
            </a:r>
            <a:endParaRPr lang="es-CO" sz="2400" dirty="0"/>
          </a:p>
          <a:p>
            <a:pPr algn="just"/>
            <a:r>
              <a:rPr lang="es-CO" sz="2400" i="1" dirty="0"/>
              <a:t>De cada </a:t>
            </a:r>
            <a:r>
              <a:rPr lang="es-CO" sz="2400" i="1" dirty="0">
                <a:highlight>
                  <a:srgbClr val="FFFF00"/>
                </a:highlight>
              </a:rPr>
              <a:t>paciente</a:t>
            </a:r>
            <a:r>
              <a:rPr lang="es-CO" sz="2400" i="1" dirty="0"/>
              <a:t> se desea guardar el código, nombre, apellidos, dirección, población, provincia, código postal, teléfono y fecha de nacimiento.</a:t>
            </a:r>
            <a:endParaRPr lang="es-CO" sz="2400" dirty="0"/>
          </a:p>
          <a:p>
            <a:pPr algn="just"/>
            <a:r>
              <a:rPr lang="es-CO" sz="2400" i="1" dirty="0"/>
              <a:t>De cada </a:t>
            </a:r>
            <a:r>
              <a:rPr lang="es-CO" sz="2400" i="1" dirty="0">
                <a:highlight>
                  <a:srgbClr val="FFFF00"/>
                </a:highlight>
              </a:rPr>
              <a:t>médico</a:t>
            </a:r>
            <a:r>
              <a:rPr lang="es-CO" sz="2400" i="1" dirty="0"/>
              <a:t> se desea guardar el código, nombre, apellidos, teléfono y especialidad.</a:t>
            </a:r>
            <a:endParaRPr lang="es-CO" sz="2400" dirty="0"/>
          </a:p>
          <a:p>
            <a:pPr algn="just"/>
            <a:r>
              <a:rPr lang="es-CO" sz="2400" i="1" dirty="0"/>
              <a:t>Se desea llevar el control de cada uno de los </a:t>
            </a:r>
            <a:r>
              <a:rPr lang="es-CO" sz="2400" i="1" dirty="0">
                <a:highlight>
                  <a:srgbClr val="FFFF00"/>
                </a:highlight>
              </a:rPr>
              <a:t>ingresos</a:t>
            </a:r>
            <a:r>
              <a:rPr lang="es-CO" sz="2400" i="1" dirty="0"/>
              <a:t> que el paciente hace en el hospital.</a:t>
            </a:r>
            <a:endParaRPr lang="es-CO" sz="2400" dirty="0"/>
          </a:p>
          <a:p>
            <a:pPr algn="just"/>
            <a:r>
              <a:rPr lang="es-CO" sz="2400" i="1" dirty="0"/>
              <a:t>Cada ingreso que realiza el paciente queda registrado en la base de datos. De cada ingreso se guarda el código de ingreso (que se incrementará automáticamente cada vez que el paciente realice un ingreso), el número de habitación y cama en la que el paciente realiza el ingreso y la fecha de ingreso.</a:t>
            </a:r>
            <a:endParaRPr lang="es-CO" sz="2400" dirty="0"/>
          </a:p>
          <a:p>
            <a:pPr algn="just"/>
            <a:r>
              <a:rPr lang="es-CO" sz="2400" i="1" dirty="0"/>
              <a:t>Un médico puede atender varios ingresos, pero el ingreso de un paciente solo puede ser atendido por un único médico. Un paciente puede realizar varios ingresos en el hospital.</a:t>
            </a:r>
            <a:endParaRPr lang="es-CO" sz="2400" b="1" dirty="0"/>
          </a:p>
        </p:txBody>
      </p:sp>
    </p:spTree>
    <p:extLst>
      <p:ext uri="{BB962C8B-B14F-4D97-AF65-F5344CB8AC3E}">
        <p14:creationId xmlns:p14="http://schemas.microsoft.com/office/powerpoint/2010/main" val="2209021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5761</TotalTime>
  <Words>1916</Words>
  <Application>Microsoft Office PowerPoint</Application>
  <PresentationFormat>Panorámica</PresentationFormat>
  <Paragraphs>183</Paragraphs>
  <Slides>24</Slides>
  <Notes>22</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24</vt:i4>
      </vt:variant>
    </vt:vector>
  </HeadingPairs>
  <TitlesOfParts>
    <vt:vector size="33" baseType="lpstr">
      <vt:lpstr>Arial</vt:lpstr>
      <vt:lpstr>Calibri</vt:lpstr>
      <vt:lpstr>Calibri Light</vt:lpstr>
      <vt:lpstr>Montserrat</vt:lpstr>
      <vt:lpstr>Source Sans Pro</vt:lpstr>
      <vt:lpstr>Wingdings</vt:lpstr>
      <vt:lpstr>Work Sans</vt:lpstr>
      <vt:lpstr>Work Sans Medium</vt:lpstr>
      <vt:lpstr>Tema de Office</vt:lpstr>
      <vt:lpstr>Presentación de PowerPoint</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Modelado de Datos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Wilson Martinez Saldarriaga</cp:lastModifiedBy>
  <cp:revision>106</cp:revision>
  <dcterms:created xsi:type="dcterms:W3CDTF">2020-10-01T23:51:28Z</dcterms:created>
  <dcterms:modified xsi:type="dcterms:W3CDTF">2023-09-07T18:47:40Z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